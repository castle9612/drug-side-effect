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68" r:id="rId4"/>
    <p:sldId id="26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EDEE"/>
    <a:srgbClr val="E9E9E9"/>
    <a:srgbClr val="E4E3E1"/>
    <a:srgbClr val="E6E4E5"/>
    <a:srgbClr val="D1D1CF"/>
    <a:srgbClr val="DEDEE0"/>
    <a:srgbClr val="E1E1E2"/>
    <a:srgbClr val="E8E2E2"/>
    <a:srgbClr val="EAEBED"/>
    <a:srgbClr val="EDEDED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630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4428E6-48F8-48FF-A4B7-7E67A9EE0B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BA2431C-BDF3-4534-AED0-115F103A46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20173CB-01B9-4295-A804-D7D5973D6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2024-01-08 (Monday)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C5FE16-77A0-484E-AEFD-FF537292E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F3DF25-2E65-49D3-8F6F-64AA11097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5835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DBF82B-6C4A-4F6E-A362-B2BF3BDC3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E6E910-43A6-49D6-A1B5-99E3B0C27E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F0DB3AC-66C4-4244-9CE9-54D71AA59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2024-01-08 (Monday)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92C886-882E-440B-806C-B06DE5089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9323D2-1426-48F9-A93B-729E72E2B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0420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53C500-C8D9-4EBC-AC73-9F7D65F03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E56CD17-259A-42E8-B64F-04C51B7C1C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976CE5-8C59-42A2-A597-465DEAC8E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2024-01-08 (Monday)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2312C6-1DCE-41BC-B5FA-FCFF5BE3B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64339A5-69DC-4256-84CA-F160D48ED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2820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F37A4D-E01E-45A7-B166-73EE7826C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0D6757-7DA6-452C-9903-7536978F15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3DCC3C8-286B-4184-8752-32BC3B116B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CA751A-C45B-42C8-893F-826B22E76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2024-01-08 (Monday)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F77210C-0EDE-42F3-A19F-12B3884B4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15D590-E2D2-480C-AF73-67D855C55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7000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E3AF97-024B-4EF1-B5B6-2E362F07C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41334B-2AA0-4E32-9445-B691EAB283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DB62D6F-224F-4433-9752-11A255D323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D04EE0E-6C7E-4160-86AA-136E97F9FD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B390FB9-7573-4784-A2A4-EDF1B3C59F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464B30B-9C6A-4C96-8DB5-BCE9A09F7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2024-01-08 (Monday)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6A11AC4-2315-46FE-81A4-FE4B84349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C2D39CB-CB92-40B8-9B0C-3FBBBDF9D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2895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E32E25-F5B3-41EE-BD3B-6965721B8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CFE1863-7C02-424B-AF80-CDB396716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2024-01-08 (Monday)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F99FB34-90A4-44A0-9CF8-F0BC0FE4A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6375702-4955-406C-919C-D35A1B84B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3063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76E1BA2-3103-4DB2-AAEB-ED1BAE452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2024-01-08 (Monday)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05D5A54-85CA-45E5-9801-A3F15EEFC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12AF2F-D0EC-4C7E-8979-4C17E3F4B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619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03A167-5C7C-4CD2-A3E4-B6F945832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21CEB6-C525-4AEB-BB3E-B131569013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9296C9A-4472-4D30-BFAE-60CB397B50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44E3F16-D603-4838-BA1C-0C9EEDE4A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2024-01-08 (Monday)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48873C6-9D3A-4C62-9D46-88E6BAABC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9A9C646-865F-49F4-8BDD-FB9A4DECA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7919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258A6-5AAD-4F1F-976F-EDB5FF725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2F4441E-0165-42AA-88F8-E53C4BAAC1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AFCA1E8-0D3C-4590-82E2-D018D6E61D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A674557-7FD9-416C-A8B5-FA6C4B555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2024-01-08 (Monday)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C4A215C-B55F-4988-B45B-7667E8C7C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2FF3B86-5A48-411F-8090-830140A67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098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520652-E714-4A15-826F-1B53C7092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C14771D-DE0A-400C-8C59-8670E31F70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BEACB7-48C9-4FB8-8D34-7F4C63932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2024-01-08 (Monday)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BD31818-B6CD-47B0-9353-395CC5398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D008922-CAE3-4884-AE59-2BC74144C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0045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3371B8A-69A6-43D4-8783-6456E33508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49DA1AA-3028-44E4-B5B0-C19BF61DC4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2BCD8D-3E10-4F33-BC43-EACB05C0B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2024-01-08 (Monday)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3E365BE-78DE-4079-B7F3-706874E92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0D9E52-1AFA-4482-A474-91FF4C5C6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4838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9DF84FF-C412-430B-963A-695AABF70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EE7982-A999-4B0A-85F1-A0D5C55038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48EB6A-F091-464F-A783-1AE546A569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6E467A-4026-4A8D-97BF-715EF7FA6491}" type="datetimeFigureOut">
              <a:rPr lang="ko-KR" altLang="en-US" smtClean="0"/>
              <a:t>2024-01-08 (Monday)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531D2C7-63D5-4319-952D-A6F8404F46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39517A-02D4-4037-9427-974339FE7C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4044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3C1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91C37AB-8C78-4D6C-BA47-74533619AC5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60700" y="-1"/>
            <a:ext cx="6248400" cy="523240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70C938C-F8B1-4FFF-8F74-6ED0A876B136}"/>
              </a:ext>
            </a:extLst>
          </p:cNvPr>
          <p:cNvSpPr txBox="1"/>
          <p:nvPr/>
        </p:nvSpPr>
        <p:spPr>
          <a:xfrm>
            <a:off x="4184262" y="5142948"/>
            <a:ext cx="3823484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600" dirty="0">
                <a:latin typeface="+mj-lt"/>
              </a:rPr>
              <a:t>결과 정리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61FC92-B1C1-4C46-ABEF-2B6B78AA5915}"/>
              </a:ext>
            </a:extLst>
          </p:cNvPr>
          <p:cNvSpPr txBox="1"/>
          <p:nvPr/>
        </p:nvSpPr>
        <p:spPr>
          <a:xfrm>
            <a:off x="3211234" y="76200"/>
            <a:ext cx="5769528" cy="45089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700" dirty="0">
                <a:latin typeface="+mn-ea"/>
              </a:rPr>
              <a:t>[    ]</a:t>
            </a:r>
            <a:endParaRPr lang="ko-KR" altLang="en-US" sz="287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21356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0B7886A-E2C2-47A8-A271-1FD08F52EED0}"/>
              </a:ext>
            </a:extLst>
          </p:cNvPr>
          <p:cNvCxnSpPr>
            <a:cxnSpLocks/>
          </p:cNvCxnSpPr>
          <p:nvPr/>
        </p:nvCxnSpPr>
        <p:spPr>
          <a:xfrm>
            <a:off x="152400" y="190500"/>
            <a:ext cx="1435100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0BF8F17-9E56-462D-B8ED-980C1047873B}"/>
              </a:ext>
            </a:extLst>
          </p:cNvPr>
          <p:cNvSpPr txBox="1"/>
          <p:nvPr/>
        </p:nvSpPr>
        <p:spPr>
          <a:xfrm>
            <a:off x="1676400" y="330200"/>
            <a:ext cx="240482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spc="-300" dirty="0">
                <a:solidFill>
                  <a:schemeClr val="accent4"/>
                </a:solidFill>
              </a:rPr>
              <a:t>결과 분석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7921CCC-0149-4109-8BAA-AEA50D3C4BBF}"/>
              </a:ext>
            </a:extLst>
          </p:cNvPr>
          <p:cNvCxnSpPr/>
          <p:nvPr/>
        </p:nvCxnSpPr>
        <p:spPr>
          <a:xfrm>
            <a:off x="1587500" y="190500"/>
            <a:ext cx="106045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0FFB7ABF-2937-F6BC-72A7-535E6E479E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705968"/>
              </p:ext>
            </p:extLst>
          </p:nvPr>
        </p:nvGraphicFramePr>
        <p:xfrm>
          <a:off x="262713" y="1452926"/>
          <a:ext cx="11637434" cy="204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738">
                  <a:extLst>
                    <a:ext uri="{9D8B030D-6E8A-4147-A177-3AD203B41FA5}">
                      <a16:colId xmlns:a16="http://schemas.microsoft.com/office/drawing/2014/main" val="3339826721"/>
                    </a:ext>
                  </a:extLst>
                </a:gridCol>
                <a:gridCol w="1328587">
                  <a:extLst>
                    <a:ext uri="{9D8B030D-6E8A-4147-A177-3AD203B41FA5}">
                      <a16:colId xmlns:a16="http://schemas.microsoft.com/office/drawing/2014/main" val="3406344493"/>
                    </a:ext>
                  </a:extLst>
                </a:gridCol>
                <a:gridCol w="1328587">
                  <a:extLst>
                    <a:ext uri="{9D8B030D-6E8A-4147-A177-3AD203B41FA5}">
                      <a16:colId xmlns:a16="http://schemas.microsoft.com/office/drawing/2014/main" val="3998218715"/>
                    </a:ext>
                  </a:extLst>
                </a:gridCol>
                <a:gridCol w="1328587">
                  <a:extLst>
                    <a:ext uri="{9D8B030D-6E8A-4147-A177-3AD203B41FA5}">
                      <a16:colId xmlns:a16="http://schemas.microsoft.com/office/drawing/2014/main" val="2989831991"/>
                    </a:ext>
                  </a:extLst>
                </a:gridCol>
                <a:gridCol w="1328587">
                  <a:extLst>
                    <a:ext uri="{9D8B030D-6E8A-4147-A177-3AD203B41FA5}">
                      <a16:colId xmlns:a16="http://schemas.microsoft.com/office/drawing/2014/main" val="2965618707"/>
                    </a:ext>
                  </a:extLst>
                </a:gridCol>
                <a:gridCol w="1328587">
                  <a:extLst>
                    <a:ext uri="{9D8B030D-6E8A-4147-A177-3AD203B41FA5}">
                      <a16:colId xmlns:a16="http://schemas.microsoft.com/office/drawing/2014/main" val="3215757127"/>
                    </a:ext>
                  </a:extLst>
                </a:gridCol>
                <a:gridCol w="1328587">
                  <a:extLst>
                    <a:ext uri="{9D8B030D-6E8A-4147-A177-3AD203B41FA5}">
                      <a16:colId xmlns:a16="http://schemas.microsoft.com/office/drawing/2014/main" val="3504770915"/>
                    </a:ext>
                  </a:extLst>
                </a:gridCol>
                <a:gridCol w="1328587">
                  <a:extLst>
                    <a:ext uri="{9D8B030D-6E8A-4147-A177-3AD203B41FA5}">
                      <a16:colId xmlns:a16="http://schemas.microsoft.com/office/drawing/2014/main" val="125620746"/>
                    </a:ext>
                  </a:extLst>
                </a:gridCol>
                <a:gridCol w="1328587">
                  <a:extLst>
                    <a:ext uri="{9D8B030D-6E8A-4147-A177-3AD203B41FA5}">
                      <a16:colId xmlns:a16="http://schemas.microsoft.com/office/drawing/2014/main" val="4130233887"/>
                    </a:ext>
                  </a:extLst>
                </a:gridCol>
              </a:tblGrid>
              <a:tr h="236230"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Past-lgb-no-AE-5fold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Past-lgb-AE-5fold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Past-</a:t>
                      </a:r>
                      <a:r>
                        <a:rPr lang="en-US" altLang="ko-KR" sz="1100" dirty="0" err="1"/>
                        <a:t>lgb</a:t>
                      </a:r>
                      <a:r>
                        <a:rPr lang="en-US" altLang="ko-KR" sz="1100" dirty="0"/>
                        <a:t>-AE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Past-</a:t>
                      </a:r>
                      <a:r>
                        <a:rPr lang="en-US" altLang="ko-KR" sz="1100" dirty="0" err="1"/>
                        <a:t>lgb</a:t>
                      </a:r>
                      <a:r>
                        <a:rPr lang="en-US" altLang="ko-KR" sz="1100" dirty="0"/>
                        <a:t>-AE-</a:t>
                      </a:r>
                      <a:r>
                        <a:rPr lang="en-US" altLang="ko-KR" sz="1100" dirty="0" err="1"/>
                        <a:t>oversm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Past-</a:t>
                      </a:r>
                      <a:r>
                        <a:rPr lang="en-US" altLang="ko-KR" sz="1100" dirty="0" err="1"/>
                        <a:t>lgb</a:t>
                      </a:r>
                      <a:r>
                        <a:rPr lang="en-US" altLang="ko-KR" sz="1100" dirty="0"/>
                        <a:t>-AE-</a:t>
                      </a:r>
                      <a:r>
                        <a:rPr lang="en-US" altLang="ko-KR" sz="1100" dirty="0" err="1"/>
                        <a:t>oversm</a:t>
                      </a:r>
                      <a:r>
                        <a:rPr lang="en-US" altLang="ko-KR" sz="1100" dirty="0"/>
                        <a:t>-</a:t>
                      </a:r>
                      <a:r>
                        <a:rPr lang="en-US" altLang="ko-KR" sz="1100" dirty="0" err="1"/>
                        <a:t>kfold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Past-</a:t>
                      </a:r>
                      <a:r>
                        <a:rPr lang="en-US" altLang="ko-KR" sz="1100" dirty="0" err="1"/>
                        <a:t>lgb</a:t>
                      </a:r>
                      <a:r>
                        <a:rPr lang="en-US" altLang="ko-KR" sz="1100" dirty="0"/>
                        <a:t>-AE-</a:t>
                      </a:r>
                      <a:r>
                        <a:rPr lang="en-US" altLang="ko-KR" sz="1100" dirty="0" err="1"/>
                        <a:t>oversm</a:t>
                      </a:r>
                      <a:r>
                        <a:rPr lang="en-US" altLang="ko-KR" sz="1100" dirty="0"/>
                        <a:t>-opt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Past-</a:t>
                      </a:r>
                      <a:r>
                        <a:rPr lang="en-US" altLang="ko-KR" sz="1100" dirty="0" err="1"/>
                        <a:t>lgb</a:t>
                      </a:r>
                      <a:r>
                        <a:rPr lang="en-US" altLang="ko-KR" sz="1100" dirty="0"/>
                        <a:t>-AE-</a:t>
                      </a:r>
                      <a:r>
                        <a:rPr lang="en-US" altLang="ko-KR" sz="1100" dirty="0" err="1"/>
                        <a:t>oversm</a:t>
                      </a:r>
                      <a:r>
                        <a:rPr lang="en-US" altLang="ko-KR" sz="1100" dirty="0"/>
                        <a:t>-</a:t>
                      </a:r>
                      <a:r>
                        <a:rPr lang="en-US" altLang="ko-KR" sz="1100" dirty="0" err="1"/>
                        <a:t>kfold</a:t>
                      </a:r>
                      <a:r>
                        <a:rPr lang="en-US" altLang="ko-KR" sz="1100" dirty="0"/>
                        <a:t>-opt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Past-</a:t>
                      </a:r>
                      <a:r>
                        <a:rPr lang="en-US" altLang="ko-KR" sz="1100" dirty="0" err="1"/>
                        <a:t>lgb</a:t>
                      </a:r>
                      <a:r>
                        <a:rPr lang="en-US" altLang="ko-KR" sz="1100" dirty="0"/>
                        <a:t>-AE-</a:t>
                      </a:r>
                      <a:r>
                        <a:rPr lang="en-US" altLang="ko-KR" sz="1100" dirty="0" err="1"/>
                        <a:t>oversm</a:t>
                      </a:r>
                      <a:r>
                        <a:rPr lang="en-US" altLang="ko-KR" sz="1100" dirty="0"/>
                        <a:t>-opt</a:t>
                      </a:r>
                      <a:endParaRPr lang="ko-KR" altLang="en-US" sz="1100" dirty="0"/>
                    </a:p>
                    <a:p>
                      <a:pPr latinLnBrk="1"/>
                      <a:r>
                        <a:rPr lang="en-US" altLang="ko-KR" sz="1100" dirty="0"/>
                        <a:t>2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6778100"/>
                  </a:ext>
                </a:extLst>
              </a:tr>
              <a:tr h="38908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accuary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0.7121212121212122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0.6590909090909091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0.7348484848484849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0.7286432160804021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0.678391959798995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0.6884422110552764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0.6331658291457286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0.6633165829145728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7866913"/>
                  </a:ext>
                </a:extLst>
              </a:tr>
              <a:tr h="2362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f1socre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0.4999999999999999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0.5054945054945055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0.5569620253164557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0.5344827586206897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0.4666666666666667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0.515625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0.416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0.47244094488188976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4225519"/>
                  </a:ext>
                </a:extLst>
              </a:tr>
              <a:tr h="5419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CM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[[75 10]</a:t>
                      </a:r>
                    </a:p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[28 19]]</a:t>
                      </a:r>
                      <a:endParaRPr lang="ko-KR" altLang="en-US" sz="1100" b="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[[64 21]</a:t>
                      </a:r>
                    </a:p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[24 23]]</a:t>
                      </a:r>
                      <a:br>
                        <a:rPr lang="ko-KR" altLang="en-US" sz="1100" dirty="0"/>
                      </a:b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[[75 10]</a:t>
                      </a:r>
                    </a:p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[25 22]]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[[114  26]</a:t>
                      </a:r>
                    </a:p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[ 28  31]]</a:t>
                      </a:r>
                      <a:endParaRPr lang="ko-KR" altLang="en-US" sz="1100" b="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[[107  33]</a:t>
                      </a:r>
                    </a:p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[ 31  28]]</a:t>
                      </a:r>
                      <a:endParaRPr lang="ko-KR" altLang="en-US" sz="1100" b="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 b="0" i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[[104  36]</a:t>
                      </a:r>
                    </a:p>
                    <a:p>
                      <a:pPr rtl="0"/>
                      <a:r>
                        <a:rPr lang="en-US" altLang="ko-KR" sz="1100" b="0" i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[ 26  33]]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[[100  40]</a:t>
                      </a:r>
                    </a:p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[ 33  26]]</a:t>
                      </a:r>
                      <a:endParaRPr lang="ko-KR" altLang="en-US" sz="1100" b="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[[102  38]</a:t>
                      </a:r>
                    </a:p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[ 29  30]]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373797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869F19B-0247-6731-2B43-075B1F472CA9}"/>
              </a:ext>
            </a:extLst>
          </p:cNvPr>
          <p:cNvSpPr txBox="1"/>
          <p:nvPr/>
        </p:nvSpPr>
        <p:spPr>
          <a:xfrm>
            <a:off x="262713" y="3429000"/>
            <a:ext cx="649659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base_acc</a:t>
            </a:r>
            <a:r>
              <a:rPr lang="en-US" altLang="ko-KR" dirty="0"/>
              <a:t> = 0.6923076923076923</a:t>
            </a:r>
          </a:p>
          <a:p>
            <a:r>
              <a:rPr lang="en-US" altLang="ko-KR" dirty="0"/>
              <a:t>data : 4254 -&gt; 64</a:t>
            </a:r>
          </a:p>
          <a:p>
            <a:r>
              <a:rPr lang="en-US" altLang="ko-KR" dirty="0"/>
              <a:t>sim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331-&gt;64</a:t>
            </a:r>
          </a:p>
          <a:p>
            <a:endParaRPr lang="en-US" altLang="ko-KR" dirty="0"/>
          </a:p>
          <a:p>
            <a:r>
              <a:rPr lang="en-US" altLang="ko-KR" dirty="0"/>
              <a:t>data1 = </a:t>
            </a:r>
            <a:r>
              <a:rPr lang="en-US" altLang="ko-KR" dirty="0" err="1"/>
              <a:t>fp</a:t>
            </a:r>
            <a:r>
              <a:rPr lang="en-US" altLang="ko-KR" dirty="0"/>
              <a:t> 80</a:t>
            </a:r>
            <a:r>
              <a:rPr lang="ko-KR" altLang="en-US" dirty="0"/>
              <a:t>차원</a:t>
            </a:r>
          </a:p>
          <a:p>
            <a:r>
              <a:rPr lang="en-US" altLang="ko-KR" dirty="0"/>
              <a:t>data2 = </a:t>
            </a:r>
            <a:r>
              <a:rPr lang="en-US" altLang="ko-KR" dirty="0" err="1"/>
              <a:t>target_action_delete_column</a:t>
            </a:r>
            <a:endParaRPr lang="en-US" altLang="ko-KR" dirty="0"/>
          </a:p>
          <a:p>
            <a:r>
              <a:rPr lang="en-US" altLang="ko-KR" dirty="0"/>
              <a:t>data3 = target_action_data_v2</a:t>
            </a:r>
          </a:p>
          <a:p>
            <a:r>
              <a:rPr lang="en-US" altLang="ko-KR" dirty="0"/>
              <a:t>data = data1+data2+data3</a:t>
            </a:r>
          </a:p>
          <a:p>
            <a:r>
              <a:rPr lang="en-US" altLang="ko-KR" dirty="0"/>
              <a:t>similarity = data1</a:t>
            </a:r>
          </a:p>
          <a:p>
            <a:endParaRPr lang="en-US" altLang="ko-KR" dirty="0"/>
          </a:p>
          <a:p>
            <a:r>
              <a:rPr lang="en-US" altLang="ko-KR" dirty="0"/>
              <a:t>X=auto(similarity)+auto(data)</a:t>
            </a:r>
          </a:p>
          <a:p>
            <a:r>
              <a:rPr lang="en-US" altLang="ko-KR" dirty="0"/>
              <a:t>Y=</a:t>
            </a:r>
            <a:r>
              <a:rPr lang="en-US" altLang="ko-KR" dirty="0" err="1"/>
              <a:t>outputdata</a:t>
            </a:r>
            <a:r>
              <a:rPr lang="en-US" altLang="ko-KR" dirty="0"/>
              <a:t>=label.csv--&gt;</a:t>
            </a:r>
            <a:r>
              <a:rPr lang="ko-KR" altLang="en-US" dirty="0"/>
              <a:t>부작용 유무</a:t>
            </a:r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342307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0B7886A-E2C2-47A8-A271-1FD08F52EED0}"/>
              </a:ext>
            </a:extLst>
          </p:cNvPr>
          <p:cNvCxnSpPr>
            <a:cxnSpLocks/>
          </p:cNvCxnSpPr>
          <p:nvPr/>
        </p:nvCxnSpPr>
        <p:spPr>
          <a:xfrm>
            <a:off x="152400" y="190500"/>
            <a:ext cx="1435100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0BF8F17-9E56-462D-B8ED-980C1047873B}"/>
              </a:ext>
            </a:extLst>
          </p:cNvPr>
          <p:cNvSpPr txBox="1"/>
          <p:nvPr/>
        </p:nvSpPr>
        <p:spPr>
          <a:xfrm>
            <a:off x="1676400" y="330200"/>
            <a:ext cx="240482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spc="-300" dirty="0">
                <a:solidFill>
                  <a:schemeClr val="accent4"/>
                </a:solidFill>
              </a:rPr>
              <a:t>결과 분석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7921CCC-0149-4109-8BAA-AEA50D3C4BBF}"/>
              </a:ext>
            </a:extLst>
          </p:cNvPr>
          <p:cNvCxnSpPr/>
          <p:nvPr/>
        </p:nvCxnSpPr>
        <p:spPr>
          <a:xfrm>
            <a:off x="1587500" y="190500"/>
            <a:ext cx="106045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0FFB7ABF-2937-F6BC-72A7-535E6E479E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6622454"/>
              </p:ext>
            </p:extLst>
          </p:nvPr>
        </p:nvGraphicFramePr>
        <p:xfrm>
          <a:off x="262712" y="1452926"/>
          <a:ext cx="11563524" cy="2209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9828">
                  <a:extLst>
                    <a:ext uri="{9D8B030D-6E8A-4147-A177-3AD203B41FA5}">
                      <a16:colId xmlns:a16="http://schemas.microsoft.com/office/drawing/2014/main" val="3339826721"/>
                    </a:ext>
                  </a:extLst>
                </a:gridCol>
                <a:gridCol w="1320462">
                  <a:extLst>
                    <a:ext uri="{9D8B030D-6E8A-4147-A177-3AD203B41FA5}">
                      <a16:colId xmlns:a16="http://schemas.microsoft.com/office/drawing/2014/main" val="3406344493"/>
                    </a:ext>
                  </a:extLst>
                </a:gridCol>
                <a:gridCol w="1320462">
                  <a:extLst>
                    <a:ext uri="{9D8B030D-6E8A-4147-A177-3AD203B41FA5}">
                      <a16:colId xmlns:a16="http://schemas.microsoft.com/office/drawing/2014/main" val="3998218715"/>
                    </a:ext>
                  </a:extLst>
                </a:gridCol>
                <a:gridCol w="1320462">
                  <a:extLst>
                    <a:ext uri="{9D8B030D-6E8A-4147-A177-3AD203B41FA5}">
                      <a16:colId xmlns:a16="http://schemas.microsoft.com/office/drawing/2014/main" val="2989831991"/>
                    </a:ext>
                  </a:extLst>
                </a:gridCol>
                <a:gridCol w="1320462">
                  <a:extLst>
                    <a:ext uri="{9D8B030D-6E8A-4147-A177-3AD203B41FA5}">
                      <a16:colId xmlns:a16="http://schemas.microsoft.com/office/drawing/2014/main" val="2965618707"/>
                    </a:ext>
                  </a:extLst>
                </a:gridCol>
                <a:gridCol w="1320462">
                  <a:extLst>
                    <a:ext uri="{9D8B030D-6E8A-4147-A177-3AD203B41FA5}">
                      <a16:colId xmlns:a16="http://schemas.microsoft.com/office/drawing/2014/main" val="3215757127"/>
                    </a:ext>
                  </a:extLst>
                </a:gridCol>
                <a:gridCol w="1320462">
                  <a:extLst>
                    <a:ext uri="{9D8B030D-6E8A-4147-A177-3AD203B41FA5}">
                      <a16:colId xmlns:a16="http://schemas.microsoft.com/office/drawing/2014/main" val="3504770915"/>
                    </a:ext>
                  </a:extLst>
                </a:gridCol>
                <a:gridCol w="1320462">
                  <a:extLst>
                    <a:ext uri="{9D8B030D-6E8A-4147-A177-3AD203B41FA5}">
                      <a16:colId xmlns:a16="http://schemas.microsoft.com/office/drawing/2014/main" val="125620746"/>
                    </a:ext>
                  </a:extLst>
                </a:gridCol>
                <a:gridCol w="1320462">
                  <a:extLst>
                    <a:ext uri="{9D8B030D-6E8A-4147-A177-3AD203B41FA5}">
                      <a16:colId xmlns:a16="http://schemas.microsoft.com/office/drawing/2014/main" val="2274614649"/>
                    </a:ext>
                  </a:extLst>
                </a:gridCol>
              </a:tblGrid>
              <a:tr h="236230"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err="1"/>
                        <a:t>Lgb-target_action</a:t>
                      </a:r>
                      <a:endParaRPr lang="en-US" altLang="ko-KR" sz="1100" dirty="0"/>
                    </a:p>
                    <a:p>
                      <a:pPr latinLnBrk="1"/>
                      <a:r>
                        <a:rPr lang="en-US" altLang="ko-KR" sz="1100" dirty="0"/>
                        <a:t>-</a:t>
                      </a:r>
                      <a:r>
                        <a:rPr lang="en-US" altLang="ko-KR" sz="1100" dirty="0" err="1"/>
                        <a:t>tani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err="1"/>
                        <a:t>Xg</a:t>
                      </a:r>
                      <a:r>
                        <a:rPr lang="en-US" altLang="ko-KR" sz="1100" dirty="0"/>
                        <a:t>-target-action-</a:t>
                      </a:r>
                      <a:r>
                        <a:rPr lang="en-US" altLang="ko-KR" sz="1100" dirty="0" err="1"/>
                        <a:t>tani</a:t>
                      </a:r>
                      <a:r>
                        <a:rPr lang="en-US" altLang="ko-KR" sz="1100" dirty="0"/>
                        <a:t>-all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err="1"/>
                        <a:t>Lgb</a:t>
                      </a:r>
                      <a:r>
                        <a:rPr lang="en-US" altLang="ko-KR" sz="1100" dirty="0"/>
                        <a:t>-target-action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err="1"/>
                        <a:t>Xg</a:t>
                      </a:r>
                      <a:r>
                        <a:rPr lang="en-US" altLang="ko-KR" sz="1100" dirty="0"/>
                        <a:t>-target-action-</a:t>
                      </a:r>
                      <a:r>
                        <a:rPr lang="en-US" altLang="ko-KR" sz="1100" dirty="0" err="1"/>
                        <a:t>tani</a:t>
                      </a:r>
                      <a:r>
                        <a:rPr lang="en-US" altLang="ko-KR" sz="1100" dirty="0"/>
                        <a:t>-past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err="1"/>
                        <a:t>lgb</a:t>
                      </a:r>
                      <a:r>
                        <a:rPr lang="en-US" altLang="ko-KR" sz="1100" dirty="0"/>
                        <a:t>-target-action-</a:t>
                      </a:r>
                      <a:r>
                        <a:rPr lang="en-US" altLang="ko-KR" sz="1100" dirty="0" err="1"/>
                        <a:t>tani</a:t>
                      </a:r>
                      <a:r>
                        <a:rPr lang="en-US" altLang="ko-KR" sz="1100" dirty="0"/>
                        <a:t>-past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err="1"/>
                        <a:t>Xg</a:t>
                      </a:r>
                      <a:r>
                        <a:rPr lang="en-US" altLang="ko-KR" sz="1100" dirty="0"/>
                        <a:t>-target-action-</a:t>
                      </a:r>
                      <a:r>
                        <a:rPr lang="en-US" altLang="ko-KR" sz="1100" dirty="0" err="1"/>
                        <a:t>tani</a:t>
                      </a:r>
                      <a:r>
                        <a:rPr lang="en-US" altLang="ko-KR" sz="1100" dirty="0"/>
                        <a:t>-past-</a:t>
                      </a:r>
                      <a:r>
                        <a:rPr lang="en-US" altLang="ko-KR" sz="1100" dirty="0" err="1"/>
                        <a:t>kfold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err="1"/>
                        <a:t>lgb</a:t>
                      </a:r>
                      <a:r>
                        <a:rPr lang="en-US" altLang="ko-KR" sz="1100" dirty="0"/>
                        <a:t>-target-action-</a:t>
                      </a:r>
                      <a:r>
                        <a:rPr lang="en-US" altLang="ko-KR" sz="1100" dirty="0" err="1"/>
                        <a:t>tani</a:t>
                      </a:r>
                      <a:r>
                        <a:rPr lang="en-US" altLang="ko-KR" sz="1100" dirty="0"/>
                        <a:t>-past-</a:t>
                      </a:r>
                      <a:r>
                        <a:rPr lang="en-US" altLang="ko-KR" sz="1100" dirty="0" err="1"/>
                        <a:t>kfold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err="1"/>
                        <a:t>lgb</a:t>
                      </a:r>
                      <a:r>
                        <a:rPr lang="en-US" altLang="ko-KR" sz="1100" dirty="0"/>
                        <a:t>-target-action-</a:t>
                      </a:r>
                      <a:r>
                        <a:rPr lang="en-US" altLang="ko-KR" sz="1100" dirty="0" err="1"/>
                        <a:t>tani</a:t>
                      </a:r>
                      <a:r>
                        <a:rPr lang="en-US" altLang="ko-KR" sz="1100" dirty="0"/>
                        <a:t>-past-</a:t>
                      </a:r>
                      <a:r>
                        <a:rPr lang="en-US" altLang="ko-KR" sz="1100" dirty="0" err="1"/>
                        <a:t>kfold</a:t>
                      </a:r>
                      <a:endParaRPr lang="en-US" altLang="ko-KR" sz="1100" dirty="0"/>
                    </a:p>
                    <a:p>
                      <a:pPr latinLnBrk="1"/>
                      <a:r>
                        <a:rPr lang="en-US" altLang="ko-KR" sz="1100" dirty="0"/>
                        <a:t>-binary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6778100"/>
                  </a:ext>
                </a:extLst>
              </a:tr>
              <a:tr h="38908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err="1"/>
                        <a:t>accuarcy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0.7078189300411523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0.720164609053498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0.6748971193415638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0.7336683417085427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0.7236180904522613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0.6666666666666666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0.7272727272727273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0.6590909090909091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7866913"/>
                  </a:ext>
                </a:extLst>
              </a:tr>
              <a:tr h="2362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f1socre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0.4227642276422764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0.42372881355932207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0.3779527559055118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0.45360824742268047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0.4329896907216495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0.44999999999999996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0.5714285714285715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0.3835616438356164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4225519"/>
                  </a:ext>
                </a:extLst>
              </a:tr>
              <a:tr h="5419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CM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[[146  31]</a:t>
                      </a:r>
                    </a:p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[ 40  26]]</a:t>
                      </a:r>
                      <a:endParaRPr lang="ko-KR" altLang="en-US" sz="1100" b="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[[150  27]</a:t>
                      </a:r>
                    </a:p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[ 41  25]]</a:t>
                      </a:r>
                      <a:br>
                        <a:rPr lang="ko-KR" altLang="en-US" sz="1100" dirty="0"/>
                      </a:b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[[140  37]</a:t>
                      </a:r>
                    </a:p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[ 42  24]]</a:t>
                      </a:r>
                      <a:br>
                        <a:rPr lang="ko-KR" altLang="en-US" sz="1100" dirty="0"/>
                      </a:b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 b="0" dirty="0">
                          <a:effectLst/>
                        </a:rPr>
                        <a:t>[[124  16]</a:t>
                      </a:r>
                    </a:p>
                    <a:p>
                      <a:pPr rtl="0"/>
                      <a:r>
                        <a:rPr lang="en-US" altLang="ko-KR" sz="1100" b="0" dirty="0">
                          <a:effectLst/>
                        </a:rPr>
                        <a:t> [ 37  22]]</a:t>
                      </a:r>
                      <a:endParaRPr lang="ko-KR" altLang="en-US" sz="1100" b="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[[123  17]</a:t>
                      </a:r>
                    </a:p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[ 38  21]]</a:t>
                      </a:r>
                      <a:endParaRPr lang="ko-KR" altLang="en-US" sz="1100" b="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[[70 15]</a:t>
                      </a:r>
                    </a:p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[29 18]]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[[72 13]</a:t>
                      </a:r>
                    </a:p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[23 24]]</a:t>
                      </a:r>
                      <a:endParaRPr lang="ko-KR" altLang="en-US" sz="1100" b="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[[73 12]</a:t>
                      </a:r>
                    </a:p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[33 14]]</a:t>
                      </a:r>
                      <a:endParaRPr lang="ko-KR" altLang="en-US" sz="1100" b="0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373797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DF5EFC3-72A8-98E3-D49E-512D0A83BE87}"/>
              </a:ext>
            </a:extLst>
          </p:cNvPr>
          <p:cNvSpPr txBox="1"/>
          <p:nvPr/>
        </p:nvSpPr>
        <p:spPr>
          <a:xfrm>
            <a:off x="152400" y="4188823"/>
            <a:ext cx="767950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No </a:t>
            </a:r>
            <a:r>
              <a:rPr lang="en-US" altLang="ko-KR" dirty="0" err="1"/>
              <a:t>tani</a:t>
            </a:r>
            <a:endParaRPr lang="en-US" altLang="ko-KR" dirty="0"/>
          </a:p>
          <a:p>
            <a:r>
              <a:rPr lang="en-US" altLang="ko-KR" dirty="0"/>
              <a:t>Target-action : 4254-&gt;64</a:t>
            </a:r>
          </a:p>
          <a:p>
            <a:endParaRPr lang="en-US" altLang="ko-KR" dirty="0"/>
          </a:p>
          <a:p>
            <a:r>
              <a:rPr lang="en-US" altLang="ko-KR" dirty="0"/>
              <a:t>Tani-all</a:t>
            </a:r>
          </a:p>
          <a:p>
            <a:r>
              <a:rPr lang="en-US" altLang="ko-KR" dirty="0"/>
              <a:t>Target-action:809-&gt;64</a:t>
            </a:r>
          </a:p>
          <a:p>
            <a:endParaRPr lang="en-US" altLang="ko-KR" dirty="0"/>
          </a:p>
          <a:p>
            <a:r>
              <a:rPr lang="en-US" altLang="ko-KR" dirty="0"/>
              <a:t>Tani-past</a:t>
            </a:r>
          </a:p>
          <a:p>
            <a:r>
              <a:rPr lang="en-US" altLang="ko-KR" dirty="0"/>
              <a:t>Target-action:331-&gt;64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2410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0B7886A-E2C2-47A8-A271-1FD08F52EED0}"/>
              </a:ext>
            </a:extLst>
          </p:cNvPr>
          <p:cNvCxnSpPr>
            <a:cxnSpLocks/>
          </p:cNvCxnSpPr>
          <p:nvPr/>
        </p:nvCxnSpPr>
        <p:spPr>
          <a:xfrm>
            <a:off x="152400" y="190500"/>
            <a:ext cx="1435100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0BF8F17-9E56-462D-B8ED-980C1047873B}"/>
              </a:ext>
            </a:extLst>
          </p:cNvPr>
          <p:cNvSpPr txBox="1"/>
          <p:nvPr/>
        </p:nvSpPr>
        <p:spPr>
          <a:xfrm>
            <a:off x="1676400" y="330200"/>
            <a:ext cx="240482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spc="-300" dirty="0">
                <a:solidFill>
                  <a:schemeClr val="accent4"/>
                </a:solidFill>
              </a:rPr>
              <a:t>결과 분석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7921CCC-0149-4109-8BAA-AEA50D3C4BBF}"/>
              </a:ext>
            </a:extLst>
          </p:cNvPr>
          <p:cNvCxnSpPr/>
          <p:nvPr/>
        </p:nvCxnSpPr>
        <p:spPr>
          <a:xfrm>
            <a:off x="1587500" y="190500"/>
            <a:ext cx="106045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0FFB7ABF-2937-F6BC-72A7-535E6E479E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758813"/>
              </p:ext>
            </p:extLst>
          </p:nvPr>
        </p:nvGraphicFramePr>
        <p:xfrm>
          <a:off x="262712" y="1452926"/>
          <a:ext cx="11154223" cy="17844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9533">
                  <a:extLst>
                    <a:ext uri="{9D8B030D-6E8A-4147-A177-3AD203B41FA5}">
                      <a16:colId xmlns:a16="http://schemas.microsoft.com/office/drawing/2014/main" val="3339826721"/>
                    </a:ext>
                  </a:extLst>
                </a:gridCol>
                <a:gridCol w="2030938">
                  <a:extLst>
                    <a:ext uri="{9D8B030D-6E8A-4147-A177-3AD203B41FA5}">
                      <a16:colId xmlns:a16="http://schemas.microsoft.com/office/drawing/2014/main" val="3406344493"/>
                    </a:ext>
                  </a:extLst>
                </a:gridCol>
                <a:gridCol w="2030938">
                  <a:extLst>
                    <a:ext uri="{9D8B030D-6E8A-4147-A177-3AD203B41FA5}">
                      <a16:colId xmlns:a16="http://schemas.microsoft.com/office/drawing/2014/main" val="3998218715"/>
                    </a:ext>
                  </a:extLst>
                </a:gridCol>
                <a:gridCol w="2030938">
                  <a:extLst>
                    <a:ext uri="{9D8B030D-6E8A-4147-A177-3AD203B41FA5}">
                      <a16:colId xmlns:a16="http://schemas.microsoft.com/office/drawing/2014/main" val="2989831991"/>
                    </a:ext>
                  </a:extLst>
                </a:gridCol>
                <a:gridCol w="2030938">
                  <a:extLst>
                    <a:ext uri="{9D8B030D-6E8A-4147-A177-3AD203B41FA5}">
                      <a16:colId xmlns:a16="http://schemas.microsoft.com/office/drawing/2014/main" val="2965618707"/>
                    </a:ext>
                  </a:extLst>
                </a:gridCol>
                <a:gridCol w="2030938">
                  <a:extLst>
                    <a:ext uri="{9D8B030D-6E8A-4147-A177-3AD203B41FA5}">
                      <a16:colId xmlns:a16="http://schemas.microsoft.com/office/drawing/2014/main" val="813959286"/>
                    </a:ext>
                  </a:extLst>
                </a:gridCol>
              </a:tblGrid>
              <a:tr h="236230"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err="1"/>
                        <a:t>lgb</a:t>
                      </a:r>
                      <a:r>
                        <a:rPr lang="en-US" altLang="ko-KR" sz="1100" dirty="0"/>
                        <a:t>-target-action-</a:t>
                      </a:r>
                      <a:r>
                        <a:rPr lang="en-US" altLang="ko-KR" sz="1100" dirty="0" err="1"/>
                        <a:t>tani</a:t>
                      </a:r>
                      <a:r>
                        <a:rPr lang="en-US" altLang="ko-KR" sz="1100" dirty="0"/>
                        <a:t>-past-</a:t>
                      </a:r>
                      <a:r>
                        <a:rPr lang="en-US" altLang="ko-KR" sz="1100" dirty="0" err="1"/>
                        <a:t>kfold</a:t>
                      </a:r>
                      <a:endParaRPr lang="en-US" altLang="ko-KR" sz="1100" dirty="0"/>
                    </a:p>
                    <a:p>
                      <a:pPr latinLnBrk="1"/>
                      <a:r>
                        <a:rPr lang="en-US" altLang="ko-KR" sz="1100" dirty="0"/>
                        <a:t>-cross-32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err="1"/>
                        <a:t>lgb</a:t>
                      </a:r>
                      <a:r>
                        <a:rPr lang="en-US" altLang="ko-KR" sz="1100" dirty="0"/>
                        <a:t>-target-action-</a:t>
                      </a:r>
                      <a:r>
                        <a:rPr lang="en-US" altLang="ko-KR" sz="1100" dirty="0" err="1"/>
                        <a:t>tani</a:t>
                      </a:r>
                      <a:r>
                        <a:rPr lang="en-US" altLang="ko-KR" sz="1100" dirty="0"/>
                        <a:t>-past-</a:t>
                      </a:r>
                      <a:r>
                        <a:rPr lang="en-US" altLang="ko-KR" sz="1100" dirty="0" err="1"/>
                        <a:t>kfold</a:t>
                      </a:r>
                      <a:endParaRPr lang="en-US" altLang="ko-KR" sz="1100" dirty="0"/>
                    </a:p>
                    <a:p>
                      <a:pPr latinLnBrk="1"/>
                      <a:r>
                        <a:rPr lang="en-US" altLang="ko-KR" sz="1100" dirty="0"/>
                        <a:t>-cross-16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err="1"/>
                        <a:t>lgb</a:t>
                      </a:r>
                      <a:r>
                        <a:rPr lang="en-US" altLang="ko-KR" sz="1100" dirty="0"/>
                        <a:t>-target-action-</a:t>
                      </a:r>
                      <a:r>
                        <a:rPr lang="en-US" altLang="ko-KR" sz="1100" dirty="0" err="1"/>
                        <a:t>tani</a:t>
                      </a:r>
                      <a:r>
                        <a:rPr lang="en-US" altLang="ko-KR" sz="1100" dirty="0"/>
                        <a:t>-past-</a:t>
                      </a:r>
                      <a:r>
                        <a:rPr lang="en-US" altLang="ko-KR" sz="1100" dirty="0" err="1"/>
                        <a:t>kfold</a:t>
                      </a:r>
                      <a:endParaRPr lang="en-US" altLang="ko-KR" sz="1100" dirty="0"/>
                    </a:p>
                    <a:p>
                      <a:pPr latinLnBrk="1"/>
                      <a:r>
                        <a:rPr lang="en-US" altLang="ko-KR" sz="1100" dirty="0"/>
                        <a:t>-cross-8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err="1"/>
                        <a:t>lgb</a:t>
                      </a:r>
                      <a:r>
                        <a:rPr lang="en-US" altLang="ko-KR" sz="1100" dirty="0"/>
                        <a:t>-target-action-</a:t>
                      </a:r>
                      <a:r>
                        <a:rPr lang="en-US" altLang="ko-KR" sz="1100" dirty="0" err="1"/>
                        <a:t>tani</a:t>
                      </a:r>
                      <a:r>
                        <a:rPr lang="en-US" altLang="ko-KR" sz="1100" dirty="0"/>
                        <a:t>-past-</a:t>
                      </a:r>
                      <a:r>
                        <a:rPr lang="en-US" altLang="ko-KR" sz="1100" dirty="0" err="1"/>
                        <a:t>kfold</a:t>
                      </a:r>
                      <a:endParaRPr lang="en-US" altLang="ko-KR" sz="1100" dirty="0"/>
                    </a:p>
                    <a:p>
                      <a:pPr latinLnBrk="1"/>
                      <a:r>
                        <a:rPr lang="en-US" altLang="ko-KR" sz="1100" dirty="0"/>
                        <a:t>-cross-4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err="1"/>
                        <a:t>lgb</a:t>
                      </a:r>
                      <a:r>
                        <a:rPr lang="en-US" altLang="ko-KR" sz="1100" dirty="0"/>
                        <a:t>-target-action-</a:t>
                      </a:r>
                      <a:r>
                        <a:rPr lang="en-US" altLang="ko-KR" sz="1100" dirty="0" err="1"/>
                        <a:t>tani</a:t>
                      </a:r>
                      <a:r>
                        <a:rPr lang="en-US" altLang="ko-KR" sz="1100" dirty="0"/>
                        <a:t>-past-</a:t>
                      </a:r>
                      <a:r>
                        <a:rPr lang="en-US" altLang="ko-KR" sz="1100" dirty="0" err="1"/>
                        <a:t>kfold</a:t>
                      </a:r>
                      <a:endParaRPr lang="en-US" altLang="ko-KR" sz="1100" dirty="0"/>
                    </a:p>
                    <a:p>
                      <a:pPr latinLnBrk="1"/>
                      <a:r>
                        <a:rPr lang="en-US" altLang="ko-KR" sz="1100" dirty="0"/>
                        <a:t>-no AE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6778100"/>
                  </a:ext>
                </a:extLst>
              </a:tr>
              <a:tr h="38908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err="1"/>
                        <a:t>accuarcy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0.7045454545454546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0.6893939393939394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0.6818181818181818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0.6666666666666666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0.6363636363636364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7866913"/>
                  </a:ext>
                </a:extLst>
              </a:tr>
              <a:tr h="2362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f1socre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0.49350649350649345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0.49382716049382713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0.46153846153846156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0.4761904761904763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0.29411764705882354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4225519"/>
                  </a:ext>
                </a:extLst>
              </a:tr>
              <a:tr h="5419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CM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[[74 11]</a:t>
                      </a:r>
                    </a:p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[28 19]]</a:t>
                      </a:r>
                      <a:endParaRPr lang="ko-KR" altLang="en-US" sz="1100" b="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[[71 14]</a:t>
                      </a:r>
                    </a:p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[27 20]]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[[72 13]</a:t>
                      </a:r>
                    </a:p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[29 18]]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 b="0" dirty="0">
                          <a:effectLst/>
                        </a:rPr>
                        <a:t>[[68 17]</a:t>
                      </a:r>
                    </a:p>
                    <a:p>
                      <a:pPr rtl="0"/>
                      <a:r>
                        <a:rPr lang="en-US" altLang="ko-KR" sz="1100" b="0" dirty="0">
                          <a:effectLst/>
                        </a:rPr>
                        <a:t> [27 20]]</a:t>
                      </a:r>
                      <a:endParaRPr lang="ko-KR" altLang="en-US" sz="1100" b="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 b="0" dirty="0">
                          <a:effectLst/>
                        </a:rPr>
                        <a:t>[[74 11]</a:t>
                      </a:r>
                    </a:p>
                    <a:p>
                      <a:pPr rtl="0"/>
                      <a:r>
                        <a:rPr lang="en-US" altLang="ko-KR" sz="1100" b="0" dirty="0">
                          <a:effectLst/>
                        </a:rPr>
                        <a:t> [37 10]]</a:t>
                      </a:r>
                      <a:endParaRPr lang="ko-KR" altLang="en-US" sz="1100" b="0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37379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143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테마">
  <a:themeElements>
    <a:clrScheme name="111 고르곤졸라">
      <a:dk1>
        <a:srgbClr val="3A3838"/>
      </a:dk1>
      <a:lt1>
        <a:srgbClr val="FFFFFF"/>
      </a:lt1>
      <a:dk2>
        <a:srgbClr val="5D5B5B"/>
      </a:dk2>
      <a:lt2>
        <a:srgbClr val="F2F2F2"/>
      </a:lt2>
      <a:accent1>
        <a:srgbClr val="5F5F5D"/>
      </a:accent1>
      <a:accent2>
        <a:srgbClr val="7C7C7A"/>
      </a:accent2>
      <a:accent3>
        <a:srgbClr val="BEB7B1"/>
      </a:accent3>
      <a:accent4>
        <a:srgbClr val="3D3A35"/>
      </a:accent4>
      <a:accent5>
        <a:srgbClr val="D1C6AE"/>
      </a:accent5>
      <a:accent6>
        <a:srgbClr val="DFD8C7"/>
      </a:accent6>
      <a:hlink>
        <a:srgbClr val="757070"/>
      </a:hlink>
      <a:folHlink>
        <a:srgbClr val="757070"/>
      </a:folHlink>
    </a:clrScheme>
    <a:fontScheme name="Pretendard ExtraBold">
      <a:majorFont>
        <a:latin typeface="Montserrat Black"/>
        <a:ea typeface="Pretendard ExtraBold"/>
        <a:cs typeface=""/>
      </a:majorFont>
      <a:minorFont>
        <a:latin typeface="Montserrat SemiBold"/>
        <a:ea typeface="Pretendar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994</TotalTime>
  <Words>381</Words>
  <Application>Microsoft Office PowerPoint</Application>
  <PresentationFormat>와이드스크린</PresentationFormat>
  <Paragraphs>147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9" baseType="lpstr">
      <vt:lpstr>Pretendard</vt:lpstr>
      <vt:lpstr>Arial</vt:lpstr>
      <vt:lpstr>Montserrat Black</vt:lpstr>
      <vt:lpstr>Montserrat SemiBold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Yu Saebyeol</dc:creator>
  <cp:lastModifiedBy>문성윤</cp:lastModifiedBy>
  <cp:revision>28</cp:revision>
  <dcterms:created xsi:type="dcterms:W3CDTF">2021-10-22T06:13:27Z</dcterms:created>
  <dcterms:modified xsi:type="dcterms:W3CDTF">2024-01-08T17:08:38Z</dcterms:modified>
</cp:coreProperties>
</file>