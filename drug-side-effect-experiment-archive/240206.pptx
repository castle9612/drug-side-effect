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75" r:id="rId6"/>
    <p:sldId id="271" r:id="rId7"/>
    <p:sldId id="276" r:id="rId8"/>
    <p:sldId id="278" r:id="rId9"/>
    <p:sldId id="277" r:id="rId10"/>
    <p:sldId id="279" r:id="rId11"/>
    <p:sldId id="280" r:id="rId12"/>
    <p:sldId id="281" r:id="rId13"/>
    <p:sldId id="282" r:id="rId14"/>
    <p:sldId id="27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E"/>
    <a:srgbClr val="E9E9E9"/>
    <a:srgbClr val="E4E3E1"/>
    <a:srgbClr val="E6E4E5"/>
    <a:srgbClr val="D1D1CF"/>
    <a:srgbClr val="DEDEE0"/>
    <a:srgbClr val="E1E1E2"/>
    <a:srgbClr val="E8E2E2"/>
    <a:srgbClr val="EAEBED"/>
    <a:srgbClr val="EDEDE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6745B-4ACF-4E4A-A8EF-0441DB4886C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71FA2-FE24-4691-953F-F2EEFED48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85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2024-02-05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1C37AB-8C78-4D6C-BA47-74533619AC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0700" y="-1"/>
            <a:ext cx="6248400" cy="523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0C938C-F8B1-4FFF-8F74-6ED0A876B136}"/>
              </a:ext>
            </a:extLst>
          </p:cNvPr>
          <p:cNvSpPr txBox="1"/>
          <p:nvPr/>
        </p:nvSpPr>
        <p:spPr>
          <a:xfrm>
            <a:off x="4184262" y="5142948"/>
            <a:ext cx="38234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dirty="0">
                <a:latin typeface="+mj-lt"/>
              </a:rPr>
              <a:t>결과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1FC92-B1C1-4C46-ABEF-2B6B78AA5915}"/>
              </a:ext>
            </a:extLst>
          </p:cNvPr>
          <p:cNvSpPr txBox="1"/>
          <p:nvPr/>
        </p:nvSpPr>
        <p:spPr>
          <a:xfrm>
            <a:off x="3211234" y="76200"/>
            <a:ext cx="57695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700" dirty="0">
                <a:latin typeface="+mn-ea"/>
              </a:rPr>
              <a:t>[    ]</a:t>
            </a:r>
            <a:endParaRPr lang="ko-KR" altLang="en-US" sz="28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13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5770-8952-4E4C-F139-B539FFAA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D79CE41-7529-396A-859F-DAD7550E6BDE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73CB7BB-CC3D-BF8C-E282-142BEE2165EA}"/>
              </a:ext>
            </a:extLst>
          </p:cNvPr>
          <p:cNvSpPr txBox="1"/>
          <p:nvPr/>
        </p:nvSpPr>
        <p:spPr>
          <a:xfrm>
            <a:off x="1676400" y="330200"/>
            <a:ext cx="6274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Smile</a:t>
            </a:r>
            <a:r>
              <a:rPr lang="ko-KR" altLang="en-US" sz="4400" spc="-300" dirty="0">
                <a:solidFill>
                  <a:schemeClr val="accent4"/>
                </a:solidFill>
              </a:rPr>
              <a:t>구조 및 </a:t>
            </a:r>
            <a:r>
              <a:rPr lang="en-US" altLang="ko-KR" sz="4400" spc="-300" dirty="0">
                <a:solidFill>
                  <a:schemeClr val="accent4"/>
                </a:solidFill>
              </a:rPr>
              <a:t>fingerprint 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CD54F3F-F950-C22D-7861-CF02C1DFB856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B309526-4C49-9CA3-17D8-0A91318BE5B6}"/>
              </a:ext>
            </a:extLst>
          </p:cNvPr>
          <p:cNvSpPr txBox="1"/>
          <p:nvPr/>
        </p:nvSpPr>
        <p:spPr>
          <a:xfrm>
            <a:off x="687977" y="1254034"/>
            <a:ext cx="109292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Smiles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알파벳과 특수문자들로 이루어진 </a:t>
            </a:r>
            <a:r>
              <a:rPr lang="en-US" altLang="ko-KR" dirty="0"/>
              <a:t>String</a:t>
            </a:r>
            <a:r>
              <a:rPr lang="ko-KR" altLang="en-US" dirty="0"/>
              <a:t>으로 분자구조를 표현하는 방식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문제점 </a:t>
            </a:r>
            <a:r>
              <a:rPr lang="en-US" altLang="ko-KR" dirty="0"/>
              <a:t>: String</a:t>
            </a:r>
            <a:r>
              <a:rPr lang="ko-KR" altLang="en-US" dirty="0"/>
              <a:t>이기에 어떤 원소를 시작점으로 잡는지에 따라 같은 분자구조에서 여러 개의 </a:t>
            </a:r>
            <a:r>
              <a:rPr lang="en-US" altLang="ko-KR" dirty="0"/>
              <a:t>SMILES</a:t>
            </a:r>
            <a:r>
              <a:rPr lang="ko-KR" altLang="en-US" dirty="0"/>
              <a:t>표현이 가능하다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Morgan 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위의 문제점을 해결하기 위해 쓰는 </a:t>
            </a:r>
            <a:r>
              <a:rPr lang="en-US" altLang="ko-KR" dirty="0"/>
              <a:t>algorithm.</a:t>
            </a:r>
          </a:p>
          <a:p>
            <a:r>
              <a:rPr lang="en-US" altLang="ko-KR" dirty="0"/>
              <a:t>-iteration</a:t>
            </a:r>
            <a:r>
              <a:rPr lang="ko-KR" altLang="en-US" dirty="0"/>
              <a:t>을 통해 각 분자에 고유한 숫자를 </a:t>
            </a:r>
            <a:r>
              <a:rPr lang="en-US" altLang="ko-KR" dirty="0" err="1"/>
              <a:t>asign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이러한 고유한 숫자는 각원자들의 </a:t>
            </a:r>
            <a:r>
              <a:rPr lang="en-US" altLang="ko-KR" dirty="0"/>
              <a:t>connectivity </a:t>
            </a:r>
            <a:r>
              <a:rPr lang="ko-KR" altLang="en-US" dirty="0"/>
              <a:t>값이며 </a:t>
            </a:r>
            <a:r>
              <a:rPr lang="ko-KR" altLang="en-US" dirty="0" err="1"/>
              <a:t>이값을</a:t>
            </a:r>
            <a:r>
              <a:rPr lang="ko-KR" altLang="en-US" dirty="0"/>
              <a:t> 기준으로 원자들의 번호를 정하여 </a:t>
            </a:r>
            <a:r>
              <a:rPr lang="en-US" altLang="ko-KR" dirty="0"/>
              <a:t>SMILES</a:t>
            </a:r>
            <a:r>
              <a:rPr lang="ko-KR" altLang="en-US" dirty="0"/>
              <a:t>구조를 </a:t>
            </a:r>
            <a:r>
              <a:rPr lang="ko-KR" altLang="en-US" dirty="0" err="1"/>
              <a:t>표현할수있다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Fingerprint</a:t>
            </a:r>
          </a:p>
          <a:p>
            <a:r>
              <a:rPr lang="ko-KR" altLang="en-US" dirty="0"/>
              <a:t>기본적으로 화학언어는 </a:t>
            </a:r>
            <a:r>
              <a:rPr lang="en-US" altLang="ko-KR" dirty="0"/>
              <a:t>2D diagram </a:t>
            </a:r>
            <a:r>
              <a:rPr lang="ko-KR" altLang="en-US" dirty="0"/>
              <a:t>을 이용하는데 이는 직관적이나 컴퓨터로 </a:t>
            </a:r>
            <a:r>
              <a:rPr lang="ko-KR" altLang="en-US" dirty="0" err="1"/>
              <a:t>계산할때</a:t>
            </a:r>
            <a:r>
              <a:rPr lang="ko-KR" altLang="en-US" dirty="0"/>
              <a:t> 느림</a:t>
            </a:r>
            <a:r>
              <a:rPr lang="en-US" altLang="ko-KR" dirty="0"/>
              <a:t>. </a:t>
            </a:r>
            <a:r>
              <a:rPr lang="ko-KR" altLang="en-US" dirty="0"/>
              <a:t>즉 컴퓨터에서 계산을 좀더 용이하게 하기 위해서 </a:t>
            </a:r>
            <a:r>
              <a:rPr lang="en-US" altLang="ko-KR" dirty="0"/>
              <a:t>String</a:t>
            </a:r>
            <a:r>
              <a:rPr lang="ko-KR" altLang="en-US" dirty="0"/>
              <a:t>이나 </a:t>
            </a:r>
            <a:r>
              <a:rPr lang="ko-KR" altLang="en-US" dirty="0" err="1"/>
              <a:t>백터로</a:t>
            </a:r>
            <a:r>
              <a:rPr lang="ko-KR" altLang="en-US" dirty="0"/>
              <a:t> </a:t>
            </a:r>
            <a:r>
              <a:rPr lang="ko-KR" altLang="en-US" dirty="0" err="1"/>
              <a:t>표현하는것</a:t>
            </a:r>
            <a:r>
              <a:rPr lang="en-US" altLang="ko-KR" dirty="0"/>
              <a:t>.</a:t>
            </a:r>
            <a:r>
              <a:rPr lang="ko-KR" altLang="en-US" dirty="0"/>
              <a:t> 이때 </a:t>
            </a:r>
            <a:r>
              <a:rPr lang="en-US" altLang="ko-KR" dirty="0"/>
              <a:t>Fingerprint</a:t>
            </a:r>
            <a:r>
              <a:rPr lang="ko-KR" altLang="en-US" dirty="0"/>
              <a:t>는 분자들간 구조의 유사도를 </a:t>
            </a:r>
            <a:r>
              <a:rPr lang="ko-KR" altLang="en-US" dirty="0" err="1"/>
              <a:t>백터형식으로</a:t>
            </a:r>
            <a:r>
              <a:rPr lang="ko-KR" altLang="en-US" dirty="0"/>
              <a:t> </a:t>
            </a:r>
            <a:r>
              <a:rPr lang="ko-KR" altLang="en-US" dirty="0" err="1"/>
              <a:t>표현해주는것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489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80BE-29F0-0C2B-A00B-A709132C6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49E38CE-C0AA-5CDE-F69F-9D52C7C058B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648E6D-6703-288B-FC7B-71A37372D001}"/>
              </a:ext>
            </a:extLst>
          </p:cNvPr>
          <p:cNvSpPr txBox="1"/>
          <p:nvPr/>
        </p:nvSpPr>
        <p:spPr>
          <a:xfrm>
            <a:off x="1676400" y="330200"/>
            <a:ext cx="33794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Input</a:t>
            </a:r>
            <a:r>
              <a:rPr lang="ko-KR" altLang="en-US" sz="4400" spc="-300" dirty="0">
                <a:solidFill>
                  <a:schemeClr val="accent4"/>
                </a:solidFill>
              </a:rPr>
              <a:t> 값 정리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456D6B-F37B-1F1E-240A-3C84C97644BB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724674-5761-2F3D-18AF-DC7095852F72}"/>
              </a:ext>
            </a:extLst>
          </p:cNvPr>
          <p:cNvSpPr txBox="1"/>
          <p:nvPr/>
        </p:nvSpPr>
        <p:spPr>
          <a:xfrm>
            <a:off x="278674" y="1419496"/>
            <a:ext cx="117739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drug_target_v2</a:t>
            </a:r>
            <a:r>
              <a:rPr lang="ko-KR" altLang="en-US" dirty="0"/>
              <a:t>파일에서 </a:t>
            </a:r>
            <a:r>
              <a:rPr lang="en-US" altLang="ko-KR" dirty="0"/>
              <a:t>action2</a:t>
            </a:r>
            <a:r>
              <a:rPr lang="ko-KR" altLang="en-US" dirty="0"/>
              <a:t>정보를 통한 </a:t>
            </a:r>
            <a:r>
              <a:rPr lang="ko-KR" altLang="en-US" dirty="0" err="1"/>
              <a:t>타니모토</a:t>
            </a:r>
            <a:r>
              <a:rPr lang="ko-KR" altLang="en-US" dirty="0"/>
              <a:t> 유사도를 구함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부작용을 기준으로 하여 </a:t>
            </a:r>
            <a:r>
              <a:rPr lang="en-US" altLang="ko-KR" dirty="0" err="1"/>
              <a:t>drug_name</a:t>
            </a:r>
            <a:r>
              <a:rPr lang="ko-KR" altLang="en-US" dirty="0"/>
              <a:t>을 가져와 </a:t>
            </a:r>
            <a:r>
              <a:rPr lang="en-US" altLang="ko-KR" dirty="0"/>
              <a:t>smile</a:t>
            </a:r>
            <a:r>
              <a:rPr lang="ko-KR" altLang="en-US" dirty="0"/>
              <a:t>구조로 변경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약물의 승인날짜를 기준으로 정렬</a:t>
            </a:r>
            <a:r>
              <a:rPr lang="en-US" altLang="ko-KR" dirty="0"/>
              <a:t>(</a:t>
            </a:r>
            <a:r>
              <a:rPr lang="ko-KR" altLang="en-US" dirty="0"/>
              <a:t>승인날짜가 </a:t>
            </a:r>
            <a:r>
              <a:rPr lang="ko-KR" altLang="en-US" dirty="0" err="1"/>
              <a:t>없을시</a:t>
            </a:r>
            <a:r>
              <a:rPr lang="ko-KR" altLang="en-US" dirty="0"/>
              <a:t> 제외시킴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정렬된 </a:t>
            </a:r>
            <a:r>
              <a:rPr lang="en-US" altLang="ko-KR" dirty="0"/>
              <a:t>smile</a:t>
            </a:r>
            <a:r>
              <a:rPr lang="ko-KR" altLang="en-US" dirty="0"/>
              <a:t>구조를 </a:t>
            </a:r>
            <a:r>
              <a:rPr lang="en-US" altLang="ko-KR" dirty="0"/>
              <a:t>fingerprint</a:t>
            </a:r>
            <a:r>
              <a:rPr lang="ko-KR" altLang="en-US" dirty="0"/>
              <a:t>로 </a:t>
            </a:r>
            <a:r>
              <a:rPr lang="ko-KR" altLang="en-US" dirty="0" err="1"/>
              <a:t>변환후</a:t>
            </a:r>
            <a:r>
              <a:rPr lang="ko-KR" altLang="en-US" dirty="0"/>
              <a:t> </a:t>
            </a:r>
            <a:r>
              <a:rPr lang="en-US" altLang="ko-KR" dirty="0" err="1"/>
              <a:t>tanimoto</a:t>
            </a:r>
            <a:r>
              <a:rPr lang="en-US" altLang="ko-KR" dirty="0"/>
              <a:t> </a:t>
            </a:r>
            <a:r>
              <a:rPr lang="ko-KR" altLang="en-US" dirty="0"/>
              <a:t>계수를 통해 유사도 행렬 사용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위의 두 데이터를 </a:t>
            </a:r>
            <a:r>
              <a:rPr lang="ko-KR" altLang="en-US" dirty="0" err="1"/>
              <a:t>오토인코더를</a:t>
            </a:r>
            <a:r>
              <a:rPr lang="ko-KR" altLang="en-US" dirty="0"/>
              <a:t> 통해 각각 </a:t>
            </a:r>
            <a:r>
              <a:rPr lang="en-US" altLang="ko-KR" dirty="0"/>
              <a:t>3435</a:t>
            </a:r>
            <a:r>
              <a:rPr lang="ko-KR" altLang="en-US" dirty="0"/>
              <a:t>차원에서 </a:t>
            </a:r>
            <a:r>
              <a:rPr lang="en-US" altLang="ko-KR" dirty="0"/>
              <a:t>64</a:t>
            </a:r>
            <a:r>
              <a:rPr lang="ko-KR" altLang="en-US" dirty="0"/>
              <a:t>차원</a:t>
            </a:r>
            <a:r>
              <a:rPr lang="en-US" altLang="ko-KR" dirty="0"/>
              <a:t>, 331</a:t>
            </a:r>
            <a:r>
              <a:rPr lang="ko-KR" altLang="en-US" dirty="0"/>
              <a:t>차원에서 </a:t>
            </a:r>
            <a:r>
              <a:rPr lang="en-US" altLang="ko-KR" dirty="0"/>
              <a:t>64</a:t>
            </a:r>
            <a:r>
              <a:rPr lang="ko-KR" altLang="en-US" dirty="0"/>
              <a:t>차원으로 </a:t>
            </a:r>
            <a:r>
              <a:rPr lang="ko-KR" altLang="en-US" dirty="0" err="1"/>
              <a:t>줄인후</a:t>
            </a:r>
            <a:r>
              <a:rPr lang="ko-KR" altLang="en-US" dirty="0"/>
              <a:t> </a:t>
            </a:r>
            <a:r>
              <a:rPr lang="en-US" altLang="ko-KR" dirty="0" err="1"/>
              <a:t>concat</a:t>
            </a:r>
            <a:r>
              <a:rPr lang="ko-KR" altLang="en-US" dirty="0"/>
              <a:t>함수를 통하여 결합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Output</a:t>
            </a:r>
            <a:r>
              <a:rPr lang="ko-KR" altLang="en-US" dirty="0"/>
              <a:t>은 부작용 유무를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으로 나타냄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101896B-B258-65CC-8AB4-BAF792EB1544}"/>
              </a:ext>
            </a:extLst>
          </p:cNvPr>
          <p:cNvGrpSpPr/>
          <p:nvPr/>
        </p:nvGrpSpPr>
        <p:grpSpPr>
          <a:xfrm>
            <a:off x="8490857" y="352696"/>
            <a:ext cx="3561806" cy="2133600"/>
            <a:chOff x="7088775" y="4141753"/>
            <a:chExt cx="3535681" cy="252574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5C08198-E6A8-219D-6C0D-A57C34CA4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88775" y="4141753"/>
              <a:ext cx="3535681" cy="215641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921DF9-1492-148F-3415-E73317C06D13}"/>
                </a:ext>
              </a:extLst>
            </p:cNvPr>
            <p:cNvSpPr txBox="1"/>
            <p:nvPr/>
          </p:nvSpPr>
          <p:spPr>
            <a:xfrm>
              <a:off x="7768044" y="6298168"/>
              <a:ext cx="2177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Data_target_v2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2462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E8E89-B1FD-7AA1-96A6-4FC6E3087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1B2F615-5B10-9BB7-03BD-D2E73C4ADD76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7992C24-DA07-A268-C5A2-0BC650EC700E}"/>
              </a:ext>
            </a:extLst>
          </p:cNvPr>
          <p:cNvSpPr txBox="1"/>
          <p:nvPr/>
        </p:nvSpPr>
        <p:spPr>
          <a:xfrm>
            <a:off x="1676400" y="330200"/>
            <a:ext cx="29306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사용한 모델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5108E39-00D3-FBFD-2F9B-1995E9B3E20E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C651DD6-20FE-A0D5-F721-2B58518E10B6}"/>
              </a:ext>
            </a:extLst>
          </p:cNvPr>
          <p:cNvSpPr txBox="1"/>
          <p:nvPr/>
        </p:nvSpPr>
        <p:spPr>
          <a:xfrm>
            <a:off x="487680" y="1262743"/>
            <a:ext cx="293061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MLP</a:t>
            </a:r>
          </a:p>
          <a:p>
            <a:endParaRPr lang="en-US" altLang="ko-KR" dirty="0"/>
          </a:p>
          <a:p>
            <a:r>
              <a:rPr lang="en-US" altLang="ko-KR" dirty="0" err="1"/>
              <a:t>Lgb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Xgboost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Mlp+lgb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AutoEncoder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Decision Tree</a:t>
            </a:r>
          </a:p>
          <a:p>
            <a:endParaRPr lang="en-US" altLang="ko-KR" dirty="0"/>
          </a:p>
          <a:p>
            <a:r>
              <a:rPr lang="en-US" altLang="ko-KR" dirty="0" err="1"/>
              <a:t>Randomforest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Svm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Twotower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logistic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6E135-E250-52CE-50B5-220F3229CF29}"/>
              </a:ext>
            </a:extLst>
          </p:cNvPr>
          <p:cNvSpPr txBox="1"/>
          <p:nvPr/>
        </p:nvSpPr>
        <p:spPr>
          <a:xfrm>
            <a:off x="6096000" y="1262743"/>
            <a:ext cx="29306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Linear regression</a:t>
            </a:r>
          </a:p>
          <a:p>
            <a:endParaRPr lang="en-US" altLang="ko-KR" dirty="0"/>
          </a:p>
          <a:p>
            <a:r>
              <a:rPr lang="en-US" altLang="ko-KR" dirty="0" err="1"/>
              <a:t>Rnn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Lstm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931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chitecture of Multi Layer Perceptron (MLP) | Download Scientific Diagram">
            <a:extLst>
              <a:ext uri="{FF2B5EF4-FFF2-40B4-BE49-F238E27FC236}">
                <a16:creationId xmlns:a16="http://schemas.microsoft.com/office/drawing/2014/main" id="{9312F376-A97E-F6B7-B267-CB6A0E487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329" y="1675336"/>
            <a:ext cx="6962320" cy="371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2DF39F8-FF60-2B3A-2172-ACF8FB663C1D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B0E9F40-E84A-9F34-F05C-6D9F6C066C94}"/>
              </a:ext>
            </a:extLst>
          </p:cNvPr>
          <p:cNvSpPr txBox="1"/>
          <p:nvPr/>
        </p:nvSpPr>
        <p:spPr>
          <a:xfrm>
            <a:off x="323273" y="395882"/>
            <a:ext cx="23262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 err="1">
                <a:solidFill>
                  <a:schemeClr val="accent4"/>
                </a:solidFill>
              </a:rPr>
              <a:t>Mlp</a:t>
            </a:r>
            <a:r>
              <a:rPr lang="ko-KR" altLang="en-US" sz="4400" spc="-300" dirty="0">
                <a:solidFill>
                  <a:schemeClr val="accent4"/>
                </a:solidFill>
              </a:rPr>
              <a:t> 모델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90CC1A-66A6-0AFA-45C1-C0738D291074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B8368A-BE1B-7AFB-C7BE-41254C0536FB}"/>
              </a:ext>
            </a:extLst>
          </p:cNvPr>
          <p:cNvSpPr txBox="1"/>
          <p:nvPr/>
        </p:nvSpPr>
        <p:spPr>
          <a:xfrm>
            <a:off x="323273" y="1785188"/>
            <a:ext cx="47770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mlp</a:t>
            </a:r>
            <a:r>
              <a:rPr lang="ko-KR" altLang="en-US" sz="2400" dirty="0"/>
              <a:t> 모델이란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Multi layer perceptron</a:t>
            </a:r>
            <a:r>
              <a:rPr lang="ko-KR" altLang="en-US" dirty="0"/>
              <a:t>의 약자로서 </a:t>
            </a:r>
            <a:r>
              <a:rPr lang="en-US" altLang="ko-KR" dirty="0"/>
              <a:t>layer</a:t>
            </a:r>
            <a:r>
              <a:rPr lang="ko-KR" altLang="en-US" dirty="0"/>
              <a:t>를 쌓아 학습을 시키는 모델이다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480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5544D4-402F-75A9-5015-15DF6C889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61" t="4697" r="11840"/>
          <a:stretch/>
        </p:blipFill>
        <p:spPr>
          <a:xfrm>
            <a:off x="5622811" y="1246909"/>
            <a:ext cx="6486062" cy="52324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5A71A1E-4DE0-62B3-8F72-ABFBB95FBE6D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AD25487-546C-3DFB-8DC6-A6114696262D}"/>
              </a:ext>
            </a:extLst>
          </p:cNvPr>
          <p:cNvSpPr txBox="1"/>
          <p:nvPr/>
        </p:nvSpPr>
        <p:spPr>
          <a:xfrm>
            <a:off x="323273" y="330200"/>
            <a:ext cx="3456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트리기반 모델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D6EA82F-1BF5-9C29-B531-F04565CF1278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AEF884F-2E18-DEA2-6424-DE8D79A9B878}"/>
              </a:ext>
            </a:extLst>
          </p:cNvPr>
          <p:cNvSpPr txBox="1"/>
          <p:nvPr/>
        </p:nvSpPr>
        <p:spPr>
          <a:xfrm>
            <a:off x="406401" y="1246909"/>
            <a:ext cx="50430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트리 모델이란</a:t>
            </a:r>
            <a:r>
              <a:rPr lang="en-US" altLang="ko-KR" sz="24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데이터에 있는 규칙을 학습을 통해 자동으로 찾아내 트리 기반의 규칙을 만드는 것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데이터를 적절한 분류 기준 값에 따라 몇 개의 소집단으로 나누는 것 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8053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pplied Deep Learning - Part 3: Autoencoders | by Arden Dertat | Towards  Data Science">
            <a:extLst>
              <a:ext uri="{FF2B5EF4-FFF2-40B4-BE49-F238E27FC236}">
                <a16:creationId xmlns:a16="http://schemas.microsoft.com/office/drawing/2014/main" id="{A8BAB741-73E6-2568-D6CE-B6E77A04C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256872"/>
            <a:ext cx="3986934" cy="226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DD520D2-2084-6233-B01B-90D9E8DB5107}"/>
              </a:ext>
            </a:extLst>
          </p:cNvPr>
          <p:cNvCxnSpPr>
            <a:cxnSpLocks/>
          </p:cNvCxnSpPr>
          <p:nvPr/>
        </p:nvCxnSpPr>
        <p:spPr>
          <a:xfrm>
            <a:off x="152400" y="225504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CEC01B2-B448-FEB0-8E71-587E2789405E}"/>
              </a:ext>
            </a:extLst>
          </p:cNvPr>
          <p:cNvSpPr txBox="1"/>
          <p:nvPr/>
        </p:nvSpPr>
        <p:spPr>
          <a:xfrm>
            <a:off x="323273" y="365204"/>
            <a:ext cx="34050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 err="1">
                <a:solidFill>
                  <a:schemeClr val="accent4"/>
                </a:solidFill>
              </a:rPr>
              <a:t>Lgb</a:t>
            </a:r>
            <a:r>
              <a:rPr lang="en-US" altLang="ko-KR" sz="4400" spc="-300" dirty="0">
                <a:solidFill>
                  <a:schemeClr val="accent4"/>
                </a:solidFill>
              </a:rPr>
              <a:t> </a:t>
            </a:r>
            <a:r>
              <a:rPr lang="ko-KR" altLang="en-US" sz="4400" spc="-300" dirty="0">
                <a:solidFill>
                  <a:schemeClr val="accent4"/>
                </a:solidFill>
              </a:rPr>
              <a:t>학습구조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595C252-42C5-7179-394F-EAF8B84DF427}"/>
              </a:ext>
            </a:extLst>
          </p:cNvPr>
          <p:cNvCxnSpPr/>
          <p:nvPr/>
        </p:nvCxnSpPr>
        <p:spPr>
          <a:xfrm>
            <a:off x="1587500" y="225504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BE8B03-7937-3152-8EEE-5EE69965434D}"/>
              </a:ext>
            </a:extLst>
          </p:cNvPr>
          <p:cNvSpPr txBox="1"/>
          <p:nvPr/>
        </p:nvSpPr>
        <p:spPr>
          <a:xfrm>
            <a:off x="5831477" y="2057191"/>
            <a:ext cx="3578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Target-action:</a:t>
            </a:r>
            <a:r>
              <a:rPr lang="ko-KR" altLang="en-US" dirty="0"/>
              <a:t> </a:t>
            </a:r>
            <a:r>
              <a:rPr lang="en-US" altLang="ko-KR" dirty="0"/>
              <a:t>3435-&gt;64</a:t>
            </a:r>
            <a:r>
              <a:rPr lang="ko-KR" altLang="en-US" dirty="0"/>
              <a:t>차원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Smile</a:t>
            </a:r>
            <a:r>
              <a:rPr lang="ko-KR" altLang="en-US" dirty="0"/>
              <a:t>구조</a:t>
            </a:r>
            <a:r>
              <a:rPr lang="en-US" altLang="ko-KR" dirty="0"/>
              <a:t>: 331-&gt;</a:t>
            </a:r>
            <a:r>
              <a:rPr lang="ko-KR" altLang="en-US" dirty="0"/>
              <a:t> </a:t>
            </a:r>
            <a:r>
              <a:rPr lang="en-US" altLang="ko-KR" dirty="0"/>
              <a:t>64</a:t>
            </a:r>
            <a:r>
              <a:rPr lang="ko-KR" altLang="en-US" dirty="0"/>
              <a:t>차원</a:t>
            </a:r>
          </a:p>
        </p:txBody>
      </p:sp>
      <p:pic>
        <p:nvPicPr>
          <p:cNvPr id="2054" name="Picture 6" descr="What is LightGBM, How to implement it? How to fine tune the parameters? |  by Pushkar Mandot | Medium">
            <a:extLst>
              <a:ext uri="{FF2B5EF4-FFF2-40B4-BE49-F238E27FC236}">
                <a16:creationId xmlns:a16="http://schemas.microsoft.com/office/drawing/2014/main" id="{40A4F143-7EB2-CA8F-1379-336CB9FAC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73" y="4016927"/>
            <a:ext cx="5314541" cy="203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E0BB0E-7AA8-A114-8091-ECDEED88E646}"/>
              </a:ext>
            </a:extLst>
          </p:cNvPr>
          <p:cNvSpPr txBox="1"/>
          <p:nvPr/>
        </p:nvSpPr>
        <p:spPr>
          <a:xfrm>
            <a:off x="1587500" y="3582756"/>
            <a:ext cx="258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Auto encoder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A446B-680E-F8D6-4B4A-F3799A51C3DE}"/>
              </a:ext>
            </a:extLst>
          </p:cNvPr>
          <p:cNvSpPr txBox="1"/>
          <p:nvPr/>
        </p:nvSpPr>
        <p:spPr>
          <a:xfrm>
            <a:off x="1702307" y="6113667"/>
            <a:ext cx="298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Light </a:t>
            </a:r>
            <a:r>
              <a:rPr lang="en-US" altLang="ko-KR" dirty="0" err="1"/>
              <a:t>gbm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5AC02-B3F8-FC03-B7F6-A1971F45E08A}"/>
              </a:ext>
            </a:extLst>
          </p:cNvPr>
          <p:cNvSpPr txBox="1"/>
          <p:nvPr/>
        </p:nvSpPr>
        <p:spPr>
          <a:xfrm>
            <a:off x="5831477" y="4570212"/>
            <a:ext cx="42704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n_tree</a:t>
            </a:r>
            <a:r>
              <a:rPr lang="ko-KR" altLang="en-US" dirty="0"/>
              <a:t> = [10,20, 30,40,50,60,70,80]</a:t>
            </a:r>
            <a:endParaRPr lang="en-US" altLang="ko-KR" dirty="0"/>
          </a:p>
          <a:p>
            <a:r>
              <a:rPr lang="en-US" altLang="ko-KR" dirty="0" err="1"/>
              <a:t>l_rate</a:t>
            </a:r>
            <a:r>
              <a:rPr lang="en-US" altLang="ko-KR" dirty="0"/>
              <a:t> = [0.3, 0.4, 0.5,0.7,0.9]</a:t>
            </a:r>
          </a:p>
          <a:p>
            <a:r>
              <a:rPr lang="en-US" altLang="ko-KR" dirty="0" err="1"/>
              <a:t>m_depth</a:t>
            </a:r>
            <a:r>
              <a:rPr lang="en-US" altLang="ko-KR" dirty="0"/>
              <a:t> = [5, 7, 10, 15, 20]</a:t>
            </a:r>
          </a:p>
          <a:p>
            <a:r>
              <a:rPr lang="nl-NL" altLang="ko-KR" dirty="0"/>
              <a:t>L1_norm = [0.3, 0.5, 0.8, 1]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138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pplied Deep Learning - Part 3: Autoencoders | by Arden Dertat | Towards  Data Science">
            <a:extLst>
              <a:ext uri="{FF2B5EF4-FFF2-40B4-BE49-F238E27FC236}">
                <a16:creationId xmlns:a16="http://schemas.microsoft.com/office/drawing/2014/main" id="{B8625343-B29B-C14A-D0AF-7CA2758FF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256872"/>
            <a:ext cx="3986934" cy="226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7324C8-AA0C-1936-E1BB-86F3017741A2}"/>
              </a:ext>
            </a:extLst>
          </p:cNvPr>
          <p:cNvSpPr txBox="1"/>
          <p:nvPr/>
        </p:nvSpPr>
        <p:spPr>
          <a:xfrm>
            <a:off x="5831477" y="2057191"/>
            <a:ext cx="3578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Target-action:</a:t>
            </a:r>
            <a:r>
              <a:rPr lang="ko-KR" altLang="en-US" dirty="0"/>
              <a:t> </a:t>
            </a:r>
            <a:r>
              <a:rPr lang="en-US" altLang="ko-KR" dirty="0"/>
              <a:t>3435-&gt;64</a:t>
            </a:r>
            <a:r>
              <a:rPr lang="ko-KR" altLang="en-US" dirty="0"/>
              <a:t>차원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Smile</a:t>
            </a:r>
            <a:r>
              <a:rPr lang="ko-KR" altLang="en-US" dirty="0"/>
              <a:t>구조</a:t>
            </a:r>
            <a:r>
              <a:rPr lang="en-US" altLang="ko-KR" dirty="0"/>
              <a:t>: 331-&gt;</a:t>
            </a:r>
            <a:r>
              <a:rPr lang="ko-KR" altLang="en-US" dirty="0"/>
              <a:t> </a:t>
            </a:r>
            <a:r>
              <a:rPr lang="en-US" altLang="ko-KR" dirty="0"/>
              <a:t>64</a:t>
            </a:r>
            <a:r>
              <a:rPr lang="ko-KR" altLang="en-US" dirty="0"/>
              <a:t>차원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C1D40-3615-97E4-7656-AD6A68053739}"/>
              </a:ext>
            </a:extLst>
          </p:cNvPr>
          <p:cNvSpPr txBox="1"/>
          <p:nvPr/>
        </p:nvSpPr>
        <p:spPr>
          <a:xfrm>
            <a:off x="1587500" y="3333252"/>
            <a:ext cx="258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Auto encoder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10E3A-A079-A817-D861-5BA8F1E75DD4}"/>
              </a:ext>
            </a:extLst>
          </p:cNvPr>
          <p:cNvSpPr txBox="1"/>
          <p:nvPr/>
        </p:nvSpPr>
        <p:spPr>
          <a:xfrm>
            <a:off x="2197137" y="6366743"/>
            <a:ext cx="1188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xgboost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68034-E9B8-21A7-0F29-18287B9230CB}"/>
              </a:ext>
            </a:extLst>
          </p:cNvPr>
          <p:cNvSpPr txBox="1"/>
          <p:nvPr/>
        </p:nvSpPr>
        <p:spPr>
          <a:xfrm>
            <a:off x="5831477" y="4570212"/>
            <a:ext cx="42704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n_tree</a:t>
            </a:r>
            <a:r>
              <a:rPr lang="ko-KR" altLang="en-US" dirty="0"/>
              <a:t> = [10,20, 30,40,50,60,70,80]</a:t>
            </a:r>
            <a:endParaRPr lang="en-US" altLang="ko-KR" dirty="0"/>
          </a:p>
          <a:p>
            <a:r>
              <a:rPr lang="en-US" altLang="ko-KR" dirty="0" err="1"/>
              <a:t>l_rate</a:t>
            </a:r>
            <a:r>
              <a:rPr lang="en-US" altLang="ko-KR" dirty="0"/>
              <a:t> = [0.3, 0.4, 0.5,0.7,0.9]</a:t>
            </a:r>
          </a:p>
          <a:p>
            <a:r>
              <a:rPr lang="en-US" altLang="ko-KR" dirty="0" err="1"/>
              <a:t>m_depth</a:t>
            </a:r>
            <a:r>
              <a:rPr lang="en-US" altLang="ko-KR" dirty="0"/>
              <a:t> = [5, 7, 10, 15, 20]</a:t>
            </a:r>
          </a:p>
          <a:p>
            <a:r>
              <a:rPr lang="nl-NL" altLang="ko-KR" dirty="0"/>
              <a:t>L1_norm = [0.3, 0.5, 0.8, 1]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3187137-4891-F89A-4251-97056A524E46}"/>
              </a:ext>
            </a:extLst>
          </p:cNvPr>
          <p:cNvCxnSpPr>
            <a:cxnSpLocks/>
          </p:cNvCxnSpPr>
          <p:nvPr/>
        </p:nvCxnSpPr>
        <p:spPr>
          <a:xfrm>
            <a:off x="152400" y="225504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1C164B-8094-B27F-AF0D-E65E96F12279}"/>
              </a:ext>
            </a:extLst>
          </p:cNvPr>
          <p:cNvSpPr txBox="1"/>
          <p:nvPr/>
        </p:nvSpPr>
        <p:spPr>
          <a:xfrm>
            <a:off x="323273" y="365204"/>
            <a:ext cx="45608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 err="1">
                <a:solidFill>
                  <a:schemeClr val="accent4"/>
                </a:solidFill>
              </a:rPr>
              <a:t>Xgboost</a:t>
            </a:r>
            <a:r>
              <a:rPr lang="en-US" altLang="ko-KR" sz="4400" spc="-300" dirty="0">
                <a:solidFill>
                  <a:schemeClr val="accent4"/>
                </a:solidFill>
              </a:rPr>
              <a:t> </a:t>
            </a:r>
            <a:r>
              <a:rPr lang="ko-KR" altLang="en-US" sz="4400" spc="-300" dirty="0">
                <a:solidFill>
                  <a:schemeClr val="accent4"/>
                </a:solidFill>
              </a:rPr>
              <a:t>학습구조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BC522F-34F3-EFD7-71D4-D1E8B41BAF24}"/>
              </a:ext>
            </a:extLst>
          </p:cNvPr>
          <p:cNvCxnSpPr/>
          <p:nvPr/>
        </p:nvCxnSpPr>
        <p:spPr>
          <a:xfrm>
            <a:off x="1587500" y="225504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A general architecture of XGBoost | Download Scientific Diagram">
            <a:extLst>
              <a:ext uri="{FF2B5EF4-FFF2-40B4-BE49-F238E27FC236}">
                <a16:creationId xmlns:a16="http://schemas.microsoft.com/office/drawing/2014/main" id="{C748C81B-BE2F-25AA-3A79-AC69A567C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3930705"/>
            <a:ext cx="4560864" cy="243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55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4F3CA5A-FF53-3C4E-709D-2EBE85A40A8F}"/>
              </a:ext>
            </a:extLst>
          </p:cNvPr>
          <p:cNvCxnSpPr>
            <a:cxnSpLocks/>
          </p:cNvCxnSpPr>
          <p:nvPr/>
        </p:nvCxnSpPr>
        <p:spPr>
          <a:xfrm>
            <a:off x="152400" y="225504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8B510B-8B9D-DC9F-ADCE-3F487BAA951A}"/>
              </a:ext>
            </a:extLst>
          </p:cNvPr>
          <p:cNvSpPr txBox="1"/>
          <p:nvPr/>
        </p:nvSpPr>
        <p:spPr>
          <a:xfrm>
            <a:off x="323273" y="365204"/>
            <a:ext cx="35766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MLP </a:t>
            </a:r>
            <a:r>
              <a:rPr lang="ko-KR" altLang="en-US" sz="4400" spc="-300" dirty="0">
                <a:solidFill>
                  <a:schemeClr val="accent4"/>
                </a:solidFill>
              </a:rPr>
              <a:t>학습구조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07286EC-5112-7530-306B-036C05397D79}"/>
              </a:ext>
            </a:extLst>
          </p:cNvPr>
          <p:cNvCxnSpPr/>
          <p:nvPr/>
        </p:nvCxnSpPr>
        <p:spPr>
          <a:xfrm>
            <a:off x="1587500" y="225504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Applied Deep Learning - Part 3: Autoencoders | by Arden Dertat | Towards  Data Science">
            <a:extLst>
              <a:ext uri="{FF2B5EF4-FFF2-40B4-BE49-F238E27FC236}">
                <a16:creationId xmlns:a16="http://schemas.microsoft.com/office/drawing/2014/main" id="{B05A2B76-D196-3660-296C-1D03E0AB2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256872"/>
            <a:ext cx="3986934" cy="226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7DA0A0-E52F-2C9F-1A40-7FAF442E14BB}"/>
              </a:ext>
            </a:extLst>
          </p:cNvPr>
          <p:cNvSpPr txBox="1"/>
          <p:nvPr/>
        </p:nvSpPr>
        <p:spPr>
          <a:xfrm>
            <a:off x="5413466" y="2111411"/>
            <a:ext cx="54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Target-action:</a:t>
            </a:r>
            <a:r>
              <a:rPr lang="ko-KR" altLang="en-US" dirty="0"/>
              <a:t> </a:t>
            </a:r>
            <a:r>
              <a:rPr lang="en-US" altLang="ko-KR" dirty="0"/>
              <a:t>1024-&gt;512-&gt;256-&gt;128-&gt;64-&gt;1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5F8BE-01B2-C508-0B68-8ADD9552B161}"/>
              </a:ext>
            </a:extLst>
          </p:cNvPr>
          <p:cNvSpPr txBox="1"/>
          <p:nvPr/>
        </p:nvSpPr>
        <p:spPr>
          <a:xfrm>
            <a:off x="1587500" y="3333252"/>
            <a:ext cx="258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Auto encoder</a:t>
            </a:r>
            <a:endParaRPr lang="ko-KR" altLang="en-US" dirty="0"/>
          </a:p>
        </p:txBody>
      </p:sp>
      <p:pic>
        <p:nvPicPr>
          <p:cNvPr id="4100" name="Picture 4" descr="Multilayer Perceptron | Abdelrahman Elogeel's Blog">
            <a:extLst>
              <a:ext uri="{FF2B5EF4-FFF2-40B4-BE49-F238E27FC236}">
                <a16:creationId xmlns:a16="http://schemas.microsoft.com/office/drawing/2014/main" id="{B40F0396-B2CF-07FB-3087-81436398B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73" y="3720815"/>
            <a:ext cx="4585063" cy="240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03CC57-9C00-8CEB-6923-C61253CF82BB}"/>
              </a:ext>
            </a:extLst>
          </p:cNvPr>
          <p:cNvSpPr txBox="1"/>
          <p:nvPr/>
        </p:nvSpPr>
        <p:spPr>
          <a:xfrm>
            <a:off x="1220305" y="6142308"/>
            <a:ext cx="332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Multi layer perceptron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3DBD1-6023-D560-BAD3-8100580263CA}"/>
              </a:ext>
            </a:extLst>
          </p:cNvPr>
          <p:cNvSpPr txBox="1"/>
          <p:nvPr/>
        </p:nvSpPr>
        <p:spPr>
          <a:xfrm>
            <a:off x="5217523" y="4737780"/>
            <a:ext cx="5402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2083-&gt;1 </a:t>
            </a:r>
          </a:p>
        </p:txBody>
      </p:sp>
    </p:spTree>
    <p:extLst>
      <p:ext uri="{BB962C8B-B14F-4D97-AF65-F5344CB8AC3E}">
        <p14:creationId xmlns:p14="http://schemas.microsoft.com/office/powerpoint/2010/main" val="368143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BDF479C-3FA5-BDCF-1BCC-40EAEF3EB84B}"/>
              </a:ext>
            </a:extLst>
          </p:cNvPr>
          <p:cNvCxnSpPr>
            <a:cxnSpLocks/>
          </p:cNvCxnSpPr>
          <p:nvPr/>
        </p:nvCxnSpPr>
        <p:spPr>
          <a:xfrm>
            <a:off x="152400" y="225504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93D0CC-5015-61FB-6BAB-09CB62E7AE95}"/>
              </a:ext>
            </a:extLst>
          </p:cNvPr>
          <p:cNvSpPr txBox="1"/>
          <p:nvPr/>
        </p:nvSpPr>
        <p:spPr>
          <a:xfrm>
            <a:off x="323273" y="365204"/>
            <a:ext cx="51443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Two tower </a:t>
            </a:r>
            <a:r>
              <a:rPr lang="ko-KR" altLang="en-US" sz="4400" spc="-300" dirty="0">
                <a:solidFill>
                  <a:schemeClr val="accent4"/>
                </a:solidFill>
              </a:rPr>
              <a:t>학습구조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3445776-0404-1528-F2BE-BB48AA830A06}"/>
              </a:ext>
            </a:extLst>
          </p:cNvPr>
          <p:cNvCxnSpPr/>
          <p:nvPr/>
        </p:nvCxnSpPr>
        <p:spPr>
          <a:xfrm>
            <a:off x="1587500" y="225504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Applied Deep Learning - Part 3: Autoencoders | by Arden Dertat | Towards  Data Science">
            <a:extLst>
              <a:ext uri="{FF2B5EF4-FFF2-40B4-BE49-F238E27FC236}">
                <a16:creationId xmlns:a16="http://schemas.microsoft.com/office/drawing/2014/main" id="{83FBC0AF-EFFB-6D54-059E-4F1F3B245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256872"/>
            <a:ext cx="3986934" cy="226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EF68E5-8814-31FD-5E21-D812DD92D840}"/>
              </a:ext>
            </a:extLst>
          </p:cNvPr>
          <p:cNvSpPr txBox="1"/>
          <p:nvPr/>
        </p:nvSpPr>
        <p:spPr>
          <a:xfrm>
            <a:off x="5914209" y="2018063"/>
            <a:ext cx="5402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Target-action:</a:t>
            </a:r>
            <a:r>
              <a:rPr lang="ko-KR" altLang="en-US" dirty="0"/>
              <a:t> </a:t>
            </a:r>
            <a:r>
              <a:rPr lang="en-US" altLang="ko-KR" dirty="0"/>
              <a:t>809-&gt;400-&gt;200-&gt;100-&gt;50</a:t>
            </a:r>
          </a:p>
          <a:p>
            <a:r>
              <a:rPr lang="en-US" altLang="ko-KR" dirty="0"/>
              <a:t>Smiles : 400-&gt;200-&gt;100-&gt;25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23D29-484A-4E47-9D0D-16D70128D5BE}"/>
              </a:ext>
            </a:extLst>
          </p:cNvPr>
          <p:cNvSpPr txBox="1"/>
          <p:nvPr/>
        </p:nvSpPr>
        <p:spPr>
          <a:xfrm>
            <a:off x="1587500" y="3333252"/>
            <a:ext cx="258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Auto encoder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50BA5-8706-D280-859B-D5A02573AE06}"/>
              </a:ext>
            </a:extLst>
          </p:cNvPr>
          <p:cNvSpPr txBox="1"/>
          <p:nvPr/>
        </p:nvSpPr>
        <p:spPr>
          <a:xfrm>
            <a:off x="1220305" y="6142308"/>
            <a:ext cx="332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Two tower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00BED3-5E89-86AD-2187-7F7D5D261DF9}"/>
              </a:ext>
            </a:extLst>
          </p:cNvPr>
          <p:cNvSpPr txBox="1"/>
          <p:nvPr/>
        </p:nvSpPr>
        <p:spPr>
          <a:xfrm>
            <a:off x="5914209" y="4493940"/>
            <a:ext cx="4692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50+25-&gt;30-&gt;10-&gt;1</a:t>
            </a:r>
          </a:p>
        </p:txBody>
      </p:sp>
      <p:pic>
        <p:nvPicPr>
          <p:cNvPr id="5122" name="Picture 2" descr="What is a Two-Tower Embedding Model? - Hopsworks">
            <a:extLst>
              <a:ext uri="{FF2B5EF4-FFF2-40B4-BE49-F238E27FC236}">
                <a16:creationId xmlns:a16="http://schemas.microsoft.com/office/drawing/2014/main" id="{EF5AD4BB-5F14-84DD-7047-FB7F898BE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17" y="3754233"/>
            <a:ext cx="5129349" cy="200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33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FD4D4-D976-44F5-4D48-B8B98997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AB1BDA0-8FEF-2C55-C428-3EC5E12E16B1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C460A25-64E2-1112-126C-2E94904BB0EE}"/>
              </a:ext>
            </a:extLst>
          </p:cNvPr>
          <p:cNvSpPr txBox="1"/>
          <p:nvPr/>
        </p:nvSpPr>
        <p:spPr>
          <a:xfrm>
            <a:off x="1676400" y="330200"/>
            <a:ext cx="30476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모델 값 정리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06C1F23-B093-D38E-88F0-DE7A47971DEE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B5EAF26-A391-4807-AB57-B8C2CAAD0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267276"/>
              </p:ext>
            </p:extLst>
          </p:nvPr>
        </p:nvGraphicFramePr>
        <p:xfrm>
          <a:off x="619765" y="1487760"/>
          <a:ext cx="991760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029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467263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467263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467263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467263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467263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467263">
                  <a:extLst>
                    <a:ext uri="{9D8B030D-6E8A-4147-A177-3AD203B41FA5}">
                      <a16:colId xmlns:a16="http://schemas.microsoft.com/office/drawing/2014/main" val="2517453138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mlp-fpmatrix_09_25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mlp-target_action_10_01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Past-lgb-AE-5fold(6</a:t>
                      </a:r>
                      <a:r>
                        <a:rPr lang="ko-KR" altLang="en-US" sz="1100" dirty="0"/>
                        <a:t>번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-target-action-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-past-</a:t>
                      </a:r>
                      <a:r>
                        <a:rPr lang="en-US" altLang="ko-KR" sz="1100" dirty="0" err="1"/>
                        <a:t>kfold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Mlp-twotower</a:t>
                      </a:r>
                      <a:endParaRPr lang="en-US" altLang="ko-KR" sz="1100" dirty="0"/>
                    </a:p>
                    <a:p>
                      <a:pPr latinLnBrk="1"/>
                      <a:r>
                        <a:rPr lang="en-US" altLang="ko-KR" sz="1100" dirty="0"/>
                        <a:t>-5fold-tani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accuary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0.671875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0.6931491613388061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0.6287878787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0.7272727272727273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0.6666666666666666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0.7083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0.6711409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0.5714285714285715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0.44999999999999996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0.5806451612903226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lnSpc>
                          <a:spcPts val="11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[[129 0]</a:t>
                      </a:r>
                      <a:endParaRPr lang="en-US" altLang="ko-KR" sz="1100" b="0" dirty="0">
                        <a:effectLst/>
                      </a:endParaRPr>
                    </a:p>
                    <a:p>
                      <a:pPr rtl="0">
                        <a:lnSpc>
                          <a:spcPts val="11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[ 33 0]]</a:t>
                      </a:r>
                      <a:endParaRPr lang="en-US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[[113   0]</a:t>
                      </a:r>
                      <a:endParaRPr lang="en-US" altLang="ko-KR" sz="1100" b="0" dirty="0">
                        <a:effectLst/>
                      </a:endParaRPr>
                    </a:p>
                    <a:p>
                      <a:pPr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[ 29   0]]</a:t>
                      </a:r>
                      <a:endParaRPr lang="en-US" altLang="ko-KR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[[33 27]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[22 50]]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[[72 13]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[23 24]]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[[70 15]</a:t>
                      </a: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[29 18]]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DF7DE24-1072-D230-ACCD-DDF672F12EA9}"/>
              </a:ext>
            </a:extLst>
          </p:cNvPr>
          <p:cNvSpPr txBox="1"/>
          <p:nvPr/>
        </p:nvSpPr>
        <p:spPr>
          <a:xfrm>
            <a:off x="619765" y="6096000"/>
            <a:ext cx="798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이 위를 제외한 다른 모델들은 </a:t>
            </a:r>
            <a:r>
              <a:rPr lang="en-US" altLang="ko-KR" dirty="0"/>
              <a:t>f1</a:t>
            </a:r>
            <a:r>
              <a:rPr lang="ko-KR" altLang="en-US" dirty="0"/>
              <a:t>이 </a:t>
            </a:r>
            <a:r>
              <a:rPr lang="en-US" altLang="ko-KR" dirty="0"/>
              <a:t>0.0</a:t>
            </a:r>
            <a:r>
              <a:rPr lang="ko-KR" altLang="en-US" dirty="0"/>
              <a:t>으로 학습이 안되어 제외함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4BF440-C88D-D464-C2B2-0FEC93DE7111}"/>
              </a:ext>
            </a:extLst>
          </p:cNvPr>
          <p:cNvSpPr txBox="1"/>
          <p:nvPr/>
        </p:nvSpPr>
        <p:spPr>
          <a:xfrm>
            <a:off x="619765" y="4075610"/>
            <a:ext cx="9011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Mlp</a:t>
            </a:r>
            <a:r>
              <a:rPr lang="en-US" altLang="ko-KR" dirty="0"/>
              <a:t>-two</a:t>
            </a:r>
            <a:r>
              <a:rPr lang="ko-KR" altLang="en-US" dirty="0"/>
              <a:t> </a:t>
            </a:r>
            <a:r>
              <a:rPr lang="en-US" altLang="ko-KR" dirty="0"/>
              <a:t>tower </a:t>
            </a:r>
            <a:r>
              <a:rPr lang="ko-KR" altLang="en-US" dirty="0"/>
              <a:t>학습구조</a:t>
            </a:r>
            <a:endParaRPr lang="en-US" altLang="ko-KR" dirty="0"/>
          </a:p>
          <a:p>
            <a:r>
              <a:rPr lang="en-US" altLang="ko-KR" dirty="0"/>
              <a:t>400-&gt;300-&gt;200-&gt;100-&gt;50-&gt;25-&gt;10-&gt;1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863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07C3B338E97074F81FDD7339ABFE9B9" ma:contentTypeVersion="3" ma:contentTypeDescription="새 문서를 만듭니다." ma:contentTypeScope="" ma:versionID="f1e6f1ca6395a57d1341d602a8b1aad8">
  <xsd:schema xmlns:xsd="http://www.w3.org/2001/XMLSchema" xmlns:xs="http://www.w3.org/2001/XMLSchema" xmlns:p="http://schemas.microsoft.com/office/2006/metadata/properties" xmlns:ns3="a81baa81-86f2-4a2e-a45f-e2b4cb1ac5e6" targetNamespace="http://schemas.microsoft.com/office/2006/metadata/properties" ma:root="true" ma:fieldsID="a96d0757eecd9d221bb74832535bcc33" ns3:_="">
    <xsd:import namespace="a81baa81-86f2-4a2e-a45f-e2b4cb1ac5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1baa81-86f2-4a2e-a45f-e2b4cb1ac5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F7CFE3-1591-4C74-B0D0-361005B3C819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a81baa81-86f2-4a2e-a45f-e2b4cb1ac5e6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7623D26-4340-47B0-9656-15815F8294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1baa81-86f2-4a2e-a45f-e2b4cb1ac5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2D89D5-14CA-4E21-8202-23B3280F88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558</Words>
  <Application>Microsoft Office PowerPoint</Application>
  <PresentationFormat>와이드스크린</PresentationFormat>
  <Paragraphs>124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SoungYun Moon</cp:lastModifiedBy>
  <cp:revision>39</cp:revision>
  <dcterms:created xsi:type="dcterms:W3CDTF">2021-10-22T06:13:27Z</dcterms:created>
  <dcterms:modified xsi:type="dcterms:W3CDTF">2024-02-05T16:56:40Z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0x010100E07C3B338E97074F81FDD7339ABFE9B9</vt:lpwstr>
  </property>
</Properties>
</file>