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6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E"/>
    <a:srgbClr val="E9E9E9"/>
    <a:srgbClr val="E4E3E1"/>
    <a:srgbClr val="E6E4E5"/>
    <a:srgbClr val="D1D1CF"/>
    <a:srgbClr val="DEDEE0"/>
    <a:srgbClr val="E1E1E2"/>
    <a:srgbClr val="E8E2E2"/>
    <a:srgbClr val="EAEBED"/>
    <a:srgbClr val="EDEDE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2023-12-27 (Wednesday)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1C37AB-8C78-4D6C-BA47-74533619AC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0700" y="-1"/>
            <a:ext cx="6248400" cy="52324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0C938C-F8B1-4FFF-8F74-6ED0A876B136}"/>
              </a:ext>
            </a:extLst>
          </p:cNvPr>
          <p:cNvSpPr txBox="1"/>
          <p:nvPr/>
        </p:nvSpPr>
        <p:spPr>
          <a:xfrm>
            <a:off x="4184262" y="5142948"/>
            <a:ext cx="382348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600" dirty="0">
                <a:latin typeface="+mj-lt"/>
              </a:rPr>
              <a:t>결과 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1FC92-B1C1-4C46-ABEF-2B6B78AA5915}"/>
              </a:ext>
            </a:extLst>
          </p:cNvPr>
          <p:cNvSpPr txBox="1"/>
          <p:nvPr/>
        </p:nvSpPr>
        <p:spPr>
          <a:xfrm>
            <a:off x="3211234" y="76200"/>
            <a:ext cx="5769528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700" dirty="0">
                <a:latin typeface="+mn-ea"/>
              </a:rPr>
              <a:t>[    ]</a:t>
            </a:r>
            <a:endParaRPr lang="ko-KR" altLang="en-US" sz="28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135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2878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진행과정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19898F9-5BBB-4FC6-A275-1A9438ACEAC3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5180B5A-26EB-47C9-9C46-411DB862974C}"/>
              </a:ext>
            </a:extLst>
          </p:cNvPr>
          <p:cNvSpPr/>
          <p:nvPr/>
        </p:nvSpPr>
        <p:spPr>
          <a:xfrm>
            <a:off x="635000" y="1936975"/>
            <a:ext cx="2171189" cy="3731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9A96EA7-BD42-4CD2-B79B-00BD7156E15F}"/>
              </a:ext>
            </a:extLst>
          </p:cNvPr>
          <p:cNvSpPr/>
          <p:nvPr/>
        </p:nvSpPr>
        <p:spPr>
          <a:xfrm>
            <a:off x="635000" y="1936973"/>
            <a:ext cx="2171189" cy="6426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03E1A14-9043-46BB-B903-3CDB8D80C2BD}"/>
              </a:ext>
            </a:extLst>
          </p:cNvPr>
          <p:cNvSpPr/>
          <p:nvPr/>
        </p:nvSpPr>
        <p:spPr>
          <a:xfrm>
            <a:off x="9436611" y="1936975"/>
            <a:ext cx="2171189" cy="3731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BB295EF-9433-447A-B4BD-5527A8EE3567}"/>
              </a:ext>
            </a:extLst>
          </p:cNvPr>
          <p:cNvSpPr/>
          <p:nvPr/>
        </p:nvSpPr>
        <p:spPr>
          <a:xfrm>
            <a:off x="3568870" y="1936975"/>
            <a:ext cx="2171189" cy="3731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76BEDC9-E4F5-4FDD-9862-C3CA0A682E01}"/>
              </a:ext>
            </a:extLst>
          </p:cNvPr>
          <p:cNvSpPr/>
          <p:nvPr/>
        </p:nvSpPr>
        <p:spPr>
          <a:xfrm>
            <a:off x="6502740" y="1936975"/>
            <a:ext cx="2171189" cy="3731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189D5D-C718-4E09-974D-5588CAFCCEAB}"/>
              </a:ext>
            </a:extLst>
          </p:cNvPr>
          <p:cNvSpPr txBox="1"/>
          <p:nvPr/>
        </p:nvSpPr>
        <p:spPr>
          <a:xfrm>
            <a:off x="2980215" y="3731400"/>
            <a:ext cx="414626" cy="392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B0A6D3-F2F2-4018-AAAB-6DB0668BFEA7}"/>
              </a:ext>
            </a:extLst>
          </p:cNvPr>
          <p:cNvSpPr txBox="1"/>
          <p:nvPr/>
        </p:nvSpPr>
        <p:spPr>
          <a:xfrm>
            <a:off x="5930725" y="3731400"/>
            <a:ext cx="414626" cy="392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55FE0E-B181-4567-B446-08BBE5262F73}"/>
              </a:ext>
            </a:extLst>
          </p:cNvPr>
          <p:cNvSpPr txBox="1"/>
          <p:nvPr/>
        </p:nvSpPr>
        <p:spPr>
          <a:xfrm>
            <a:off x="8831308" y="3731400"/>
            <a:ext cx="414626" cy="392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064715-5234-4809-A360-10B709E74E9C}"/>
              </a:ext>
            </a:extLst>
          </p:cNvPr>
          <p:cNvSpPr txBox="1"/>
          <p:nvPr/>
        </p:nvSpPr>
        <p:spPr>
          <a:xfrm>
            <a:off x="1204799" y="2059253"/>
            <a:ext cx="998513" cy="392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STEP 1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76E59E6-98F0-4211-99E9-58F6D3C81AA2}"/>
              </a:ext>
            </a:extLst>
          </p:cNvPr>
          <p:cNvSpPr/>
          <p:nvPr/>
        </p:nvSpPr>
        <p:spPr>
          <a:xfrm>
            <a:off x="3568869" y="1936973"/>
            <a:ext cx="2171189" cy="6426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715BC6-C532-4513-A514-9C1EC4DC4A63}"/>
              </a:ext>
            </a:extLst>
          </p:cNvPr>
          <p:cNvSpPr txBox="1"/>
          <p:nvPr/>
        </p:nvSpPr>
        <p:spPr>
          <a:xfrm>
            <a:off x="4163389" y="2059253"/>
            <a:ext cx="998513" cy="392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STEP 2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F13B856-63DB-43F5-9F1D-24C34931D24D}"/>
              </a:ext>
            </a:extLst>
          </p:cNvPr>
          <p:cNvSpPr/>
          <p:nvPr/>
        </p:nvSpPr>
        <p:spPr>
          <a:xfrm>
            <a:off x="6502738" y="1936973"/>
            <a:ext cx="2171189" cy="6426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3CBD19-F4F3-43D9-A8D7-BB42F4B3179C}"/>
              </a:ext>
            </a:extLst>
          </p:cNvPr>
          <p:cNvSpPr txBox="1"/>
          <p:nvPr/>
        </p:nvSpPr>
        <p:spPr>
          <a:xfrm>
            <a:off x="7098110" y="2059253"/>
            <a:ext cx="998513" cy="392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STEP 3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BEDC491-5658-4DE2-A675-31F41C978D18}"/>
              </a:ext>
            </a:extLst>
          </p:cNvPr>
          <p:cNvSpPr/>
          <p:nvPr/>
        </p:nvSpPr>
        <p:spPr>
          <a:xfrm>
            <a:off x="9436606" y="1936973"/>
            <a:ext cx="2171189" cy="6426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1A5C77-58D6-4800-80E3-F22E30CB9F38}"/>
              </a:ext>
            </a:extLst>
          </p:cNvPr>
          <p:cNvSpPr txBox="1"/>
          <p:nvPr/>
        </p:nvSpPr>
        <p:spPr>
          <a:xfrm>
            <a:off x="10023228" y="2059253"/>
            <a:ext cx="998513" cy="392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STEP 4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B8E363-9BC7-40FA-9875-44C8617DF0A3}"/>
              </a:ext>
            </a:extLst>
          </p:cNvPr>
          <p:cNvSpPr txBox="1"/>
          <p:nvPr/>
        </p:nvSpPr>
        <p:spPr>
          <a:xfrm>
            <a:off x="815511" y="3252248"/>
            <a:ext cx="1789846" cy="2133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MLP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를 통한 학습 추진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,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데이터 </a:t>
            </a:r>
            <a:r>
              <a:rPr lang="ko-KR" altLang="en-US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전처리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[1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0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으로 표현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(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부작용 유무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), </a:t>
            </a:r>
            <a:r>
              <a:rPr lang="ko-KR" altLang="en-US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원핫백터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-&gt;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fingerprint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로 변환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)</a:t>
            </a:r>
          </a:p>
          <a:p>
            <a:pPr algn="just">
              <a:lnSpc>
                <a:spcPct val="120000"/>
              </a:lnSpc>
            </a:pP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돋움" panose="020B0600000101010101" pitchFamily="50" charset="-127"/>
              <a:ea typeface="나눔스퀘어 Light" panose="020B0600000101010101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오토인코더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 및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dropout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나눔스퀘어 Light" panose="020B0600000101010101"/>
              </a:rPr>
              <a:t>도 적용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1F2F71-C933-448F-B8E8-ABDD801ABA77}"/>
              </a:ext>
            </a:extLst>
          </p:cNvPr>
          <p:cNvSpPr txBox="1"/>
          <p:nvPr/>
        </p:nvSpPr>
        <p:spPr>
          <a:xfrm>
            <a:off x="3749381" y="3252248"/>
            <a:ext cx="1789846" cy="110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Target_action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으로 데이터 </a:t>
            </a:r>
            <a:r>
              <a:rPr lang="ko-KR" altLang="en-US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전처리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후 학습 추진 모델은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MLP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그대로 사용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3235E6-E3F7-47EB-81D6-D46826BBF3F8}"/>
              </a:ext>
            </a:extLst>
          </p:cNvPr>
          <p:cNvSpPr txBox="1"/>
          <p:nvPr/>
        </p:nvSpPr>
        <p:spPr>
          <a:xfrm>
            <a:off x="6683252" y="3252248"/>
            <a:ext cx="1789846" cy="2393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기존의 데이터셋을 가지고 </a:t>
            </a:r>
            <a:r>
              <a:rPr lang="en-US" altLang="ko-KR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lgb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모델적용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데이터셋을 </a:t>
            </a:r>
            <a:r>
              <a:rPr lang="ko-KR" altLang="en-US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타니모토유사도를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구하여 </a:t>
            </a:r>
            <a:r>
              <a:rPr lang="ko-KR" altLang="en-US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적용해봄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Twotower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모델 해봤으나 무의미함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B7FCD1-9B56-49D9-8E17-4682ACD6918A}"/>
              </a:ext>
            </a:extLst>
          </p:cNvPr>
          <p:cNvSpPr txBox="1"/>
          <p:nvPr/>
        </p:nvSpPr>
        <p:spPr>
          <a:xfrm>
            <a:off x="9627277" y="3252248"/>
            <a:ext cx="1789846" cy="1876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기존의 데이터셋 가지고 </a:t>
            </a:r>
            <a:r>
              <a:rPr lang="en-US" altLang="ko-KR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xgboost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적용</a:t>
            </a: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endParaRPr lang="en-US" altLang="ko-KR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과거의 약물을 가지고 측정하며 </a:t>
            </a:r>
            <a:r>
              <a:rPr lang="ko-KR" altLang="en-US" sz="14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타겟엑션을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합쳐서 쓰는 데이터셋 구현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,</a:t>
            </a: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257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0B7886A-E2C2-47A8-A271-1FD08F52EED0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24048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spc="-300" dirty="0">
                <a:solidFill>
                  <a:schemeClr val="accent4"/>
                </a:solidFill>
              </a:rPr>
              <a:t>결과 분석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921CCC-0149-4109-8BAA-AEA50D3C4BBF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FB7ABF-2937-F6BC-72A7-535E6E479E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616435"/>
              </p:ext>
            </p:extLst>
          </p:nvPr>
        </p:nvGraphicFramePr>
        <p:xfrm>
          <a:off x="262713" y="1452926"/>
          <a:ext cx="11666574" cy="1501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738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1583834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1296286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1296286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1296286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1296286">
                  <a:extLst>
                    <a:ext uri="{9D8B030D-6E8A-4147-A177-3AD203B41FA5}">
                      <a16:colId xmlns:a16="http://schemas.microsoft.com/office/drawing/2014/main" val="3215757127"/>
                    </a:ext>
                  </a:extLst>
                </a:gridCol>
                <a:gridCol w="1296286">
                  <a:extLst>
                    <a:ext uri="{9D8B030D-6E8A-4147-A177-3AD203B41FA5}">
                      <a16:colId xmlns:a16="http://schemas.microsoft.com/office/drawing/2014/main" val="3504770915"/>
                    </a:ext>
                  </a:extLst>
                </a:gridCol>
                <a:gridCol w="1296286">
                  <a:extLst>
                    <a:ext uri="{9D8B030D-6E8A-4147-A177-3AD203B41FA5}">
                      <a16:colId xmlns:a16="http://schemas.microsoft.com/office/drawing/2014/main" val="125620746"/>
                    </a:ext>
                  </a:extLst>
                </a:gridCol>
                <a:gridCol w="1296286">
                  <a:extLst>
                    <a:ext uri="{9D8B030D-6E8A-4147-A177-3AD203B41FA5}">
                      <a16:colId xmlns:a16="http://schemas.microsoft.com/office/drawing/2014/main" val="4130233887"/>
                    </a:ext>
                  </a:extLst>
                </a:gridCol>
              </a:tblGrid>
              <a:tr h="236230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Mlp-fp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Mlp</a:t>
                      </a:r>
                      <a:r>
                        <a:rPr lang="en-US" altLang="ko-KR" sz="1100" dirty="0"/>
                        <a:t>-tar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-AE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</a:t>
                      </a:r>
                      <a:r>
                        <a:rPr lang="ko-KR" altLang="en-US" sz="1100" dirty="0"/>
                        <a:t>부작용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</a:t>
                      </a:r>
                      <a:r>
                        <a:rPr lang="ko-KR" altLang="en-US" sz="1100" dirty="0"/>
                        <a:t>부작용</a:t>
                      </a:r>
                      <a:r>
                        <a:rPr lang="en-US" altLang="ko-KR" sz="1100" dirty="0"/>
                        <a:t>-AE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-top 10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-tar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3890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accuarcy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0.671875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0.706250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0.6854460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0.685446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0.781893004115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0.79012345679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0.76543209876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0.70370370370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236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0.6748466257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0.70689655172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0.571428571428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0.34545454545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[[129 0]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[ 33 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[[113   0]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[ 29   0]]</a:t>
                      </a:r>
                      <a:br>
                        <a:rPr lang="ko-KR" altLang="en-US" sz="1100" dirty="0"/>
                      </a:b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[[145   0]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[ 67   1]]</a:t>
                      </a:r>
                      <a:br>
                        <a:rPr lang="ko-KR" altLang="en-US" sz="1100" dirty="0"/>
                      </a:b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[[145   0]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[ 67   1]]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[[135  20]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[ 33  55]]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[[87 20]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[14 41]]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[[148  29]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[ 28  38]]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[[152  25]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[ 47  19]]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E1B307E-E864-07CD-509F-4FE24EF86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670994"/>
              </p:ext>
            </p:extLst>
          </p:nvPr>
        </p:nvGraphicFramePr>
        <p:xfrm>
          <a:off x="262713" y="3214233"/>
          <a:ext cx="11666574" cy="153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864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1557708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1296286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1465458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1127114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1346120">
                  <a:extLst>
                    <a:ext uri="{9D8B030D-6E8A-4147-A177-3AD203B41FA5}">
                      <a16:colId xmlns:a16="http://schemas.microsoft.com/office/drawing/2014/main" val="3215757127"/>
                    </a:ext>
                  </a:extLst>
                </a:gridCol>
                <a:gridCol w="1246452">
                  <a:extLst>
                    <a:ext uri="{9D8B030D-6E8A-4147-A177-3AD203B41FA5}">
                      <a16:colId xmlns:a16="http://schemas.microsoft.com/office/drawing/2014/main" val="3504770915"/>
                    </a:ext>
                  </a:extLst>
                </a:gridCol>
                <a:gridCol w="1296286">
                  <a:extLst>
                    <a:ext uri="{9D8B030D-6E8A-4147-A177-3AD203B41FA5}">
                      <a16:colId xmlns:a16="http://schemas.microsoft.com/office/drawing/2014/main" val="125620746"/>
                    </a:ext>
                  </a:extLst>
                </a:gridCol>
                <a:gridCol w="1296286">
                  <a:extLst>
                    <a:ext uri="{9D8B030D-6E8A-4147-A177-3AD203B41FA5}">
                      <a16:colId xmlns:a16="http://schemas.microsoft.com/office/drawing/2014/main" val="4130233887"/>
                    </a:ext>
                  </a:extLst>
                </a:gridCol>
              </a:tblGrid>
              <a:tr h="211008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-tar-ae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-only </a:t>
                      </a:r>
                      <a:r>
                        <a:rPr lang="en-US" altLang="ko-KR" sz="1100" dirty="0" err="1"/>
                        <a:t>fp</a:t>
                      </a:r>
                      <a:r>
                        <a:rPr lang="en-US" altLang="ko-KR" sz="1100" dirty="0"/>
                        <a:t>- ae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Lbg</a:t>
                      </a:r>
                      <a:r>
                        <a:rPr lang="en-US" altLang="ko-KR" sz="1100" dirty="0"/>
                        <a:t>-only tar-</a:t>
                      </a:r>
                      <a:r>
                        <a:rPr lang="en-US" altLang="ko-KR" sz="1100" dirty="0" err="1"/>
                        <a:t>tani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</a:t>
                      </a:r>
                      <a:r>
                        <a:rPr lang="en-US" altLang="ko-KR" sz="1100" dirty="0" err="1"/>
                        <a:t>tani</a:t>
                      </a:r>
                      <a:r>
                        <a:rPr lang="en-US" altLang="ko-KR" sz="1100" dirty="0"/>
                        <a:t>-ae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-tar-act-</a:t>
                      </a:r>
                      <a:r>
                        <a:rPr lang="en-US" altLang="ko-KR" sz="1100" dirty="0" err="1"/>
                        <a:t>tani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-tar-act-</a:t>
                      </a:r>
                      <a:r>
                        <a:rPr lang="en-US" altLang="ko-KR" sz="1100" dirty="0" err="1"/>
                        <a:t>fp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Lgb-fp-tani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-tar-act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1695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accuarcy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0.7366255144032922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0.7242798353909465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0.7283950617283951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0.7325102880658436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0.7242798353909465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0.7489711934156379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0.720164609053498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0.7407407407407407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406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0.38461538461538464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0.3619047619047619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0.3888888888888889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0.4444444444444444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0.4273504273504274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0.4403669724770642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0.37037037037037035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0.33684210526315794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406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[[159  18]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[ 46  20]]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[[157  20]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[ 47  19]]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[[156  21]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[ 45  21]]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[[152  25]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[ 40  26]]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[[151  26]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[ 41  25]]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[[158  19]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[ 42  24]]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[[155  22]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[ 46  20]]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[[164  13]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[ 50  16]]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0A7B6424-61D9-799F-65A4-427F6D04F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786419"/>
              </p:ext>
            </p:extLst>
          </p:nvPr>
        </p:nvGraphicFramePr>
        <p:xfrm>
          <a:off x="262712" y="4988560"/>
          <a:ext cx="10431413" cy="153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806">
                  <a:extLst>
                    <a:ext uri="{9D8B030D-6E8A-4147-A177-3AD203B41FA5}">
                      <a16:colId xmlns:a16="http://schemas.microsoft.com/office/drawing/2014/main" val="3339826721"/>
                    </a:ext>
                  </a:extLst>
                </a:gridCol>
                <a:gridCol w="1535986">
                  <a:extLst>
                    <a:ext uri="{9D8B030D-6E8A-4147-A177-3AD203B41FA5}">
                      <a16:colId xmlns:a16="http://schemas.microsoft.com/office/drawing/2014/main" val="3406344493"/>
                    </a:ext>
                  </a:extLst>
                </a:gridCol>
                <a:gridCol w="1285395">
                  <a:extLst>
                    <a:ext uri="{9D8B030D-6E8A-4147-A177-3AD203B41FA5}">
                      <a16:colId xmlns:a16="http://schemas.microsoft.com/office/drawing/2014/main" val="3998218715"/>
                    </a:ext>
                  </a:extLst>
                </a:gridCol>
                <a:gridCol w="1453147">
                  <a:extLst>
                    <a:ext uri="{9D8B030D-6E8A-4147-A177-3AD203B41FA5}">
                      <a16:colId xmlns:a16="http://schemas.microsoft.com/office/drawing/2014/main" val="2989831991"/>
                    </a:ext>
                  </a:extLst>
                </a:gridCol>
                <a:gridCol w="1117646">
                  <a:extLst>
                    <a:ext uri="{9D8B030D-6E8A-4147-A177-3AD203B41FA5}">
                      <a16:colId xmlns:a16="http://schemas.microsoft.com/office/drawing/2014/main" val="2965618707"/>
                    </a:ext>
                  </a:extLst>
                </a:gridCol>
                <a:gridCol w="1334811">
                  <a:extLst>
                    <a:ext uri="{9D8B030D-6E8A-4147-A177-3AD203B41FA5}">
                      <a16:colId xmlns:a16="http://schemas.microsoft.com/office/drawing/2014/main" val="3215757127"/>
                    </a:ext>
                  </a:extLst>
                </a:gridCol>
                <a:gridCol w="1334811">
                  <a:extLst>
                    <a:ext uri="{9D8B030D-6E8A-4147-A177-3AD203B41FA5}">
                      <a16:colId xmlns:a16="http://schemas.microsoft.com/office/drawing/2014/main" val="182782458"/>
                    </a:ext>
                  </a:extLst>
                </a:gridCol>
                <a:gridCol w="1334811">
                  <a:extLst>
                    <a:ext uri="{9D8B030D-6E8A-4147-A177-3AD203B41FA5}">
                      <a16:colId xmlns:a16="http://schemas.microsoft.com/office/drawing/2014/main" val="3736350927"/>
                    </a:ext>
                  </a:extLst>
                </a:gridCol>
              </a:tblGrid>
              <a:tr h="211008"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-tar-act-</a:t>
                      </a:r>
                      <a:r>
                        <a:rPr lang="en-US" altLang="ko-KR" sz="1100" dirty="0" err="1"/>
                        <a:t>fp</a:t>
                      </a:r>
                      <a:r>
                        <a:rPr lang="en-US" altLang="ko-KR" sz="1100" dirty="0"/>
                        <a:t>-ae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Lgb</a:t>
                      </a:r>
                      <a:r>
                        <a:rPr lang="en-US" altLang="ko-KR" sz="1100" dirty="0"/>
                        <a:t>-only </a:t>
                      </a:r>
                      <a:r>
                        <a:rPr lang="en-US" altLang="ko-KR" sz="1100" dirty="0" err="1"/>
                        <a:t>fp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Lbg</a:t>
                      </a:r>
                      <a:r>
                        <a:rPr lang="en-US" altLang="ko-KR" sz="1100" dirty="0"/>
                        <a:t>-only tar-act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xgboost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Xg</a:t>
                      </a:r>
                      <a:r>
                        <a:rPr lang="en-US" altLang="ko-KR" sz="1100" dirty="0"/>
                        <a:t>-</a:t>
                      </a:r>
                      <a:r>
                        <a:rPr lang="ko-KR" altLang="en-US" sz="1100" dirty="0"/>
                        <a:t>과거약물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randomforest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svm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778100"/>
                  </a:ext>
                </a:extLst>
              </a:tr>
              <a:tr h="1695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err="1"/>
                        <a:t>accuarcy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0.7119341563786008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0.7078189300411523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0.7283950617283951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0.6126760563380281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0.7453416149068323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0.6136363636363636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0.6439393939393939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866913"/>
                  </a:ext>
                </a:extLst>
              </a:tr>
              <a:tr h="406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f1socre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0.375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0.3603603603603604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0.40579710144927544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0.03773584905660377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0.0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25519"/>
                  </a:ext>
                </a:extLst>
              </a:tr>
              <a:tr h="406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CM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[[152  25]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[ 45  21]]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[[152  25]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[ 46  20]]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[[177   0]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[ 66   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[[106   5]</a:t>
                      </a:r>
                      <a:endParaRPr lang="ko-KR" altLang="en-US" sz="1100" b="0" dirty="0">
                        <a:effectLst/>
                      </a:endParaRPr>
                    </a:p>
                    <a:p>
                      <a:pPr rtl="0"/>
                      <a:r>
                        <a:rPr lang="ko-KR" alt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[ 36  14]]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[[80  5]</a:t>
                      </a:r>
                    </a:p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 [46  1]]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[[85  0]</a:t>
                      </a:r>
                    </a:p>
                    <a:p>
                      <a:pPr rtl="0"/>
                      <a:r>
                        <a:rPr lang="en-US" altLang="ko-KR" sz="1100" b="0" dirty="0">
                          <a:effectLst/>
                        </a:rPr>
                        <a:t> [47  0]]</a:t>
                      </a:r>
                      <a:endParaRPr lang="ko-KR" altLang="en-US" sz="1100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737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230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377</Words>
  <Application>Microsoft Office PowerPoint</Application>
  <PresentationFormat>와이드스크린</PresentationFormat>
  <Paragraphs>144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Pretendard</vt:lpstr>
      <vt:lpstr>나눔스퀘어 Light</vt:lpstr>
      <vt:lpstr>돋움</vt:lpstr>
      <vt:lpstr>Arial</vt:lpstr>
      <vt:lpstr>Montserrat Black</vt:lpstr>
      <vt:lpstr>Montserrat SemiBold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문성윤</cp:lastModifiedBy>
  <cp:revision>24</cp:revision>
  <dcterms:created xsi:type="dcterms:W3CDTF">2021-10-22T06:13:27Z</dcterms:created>
  <dcterms:modified xsi:type="dcterms:W3CDTF">2023-12-27T16:13:42Z</dcterms:modified>
</cp:coreProperties>
</file>